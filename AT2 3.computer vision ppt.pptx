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1.png"/><Relationship Id="rId3" Type="http://schemas.openxmlformats.org/officeDocument/2006/relationships/image" Target="../media/image-11-1.png"/><Relationship Id="rId4" Type="http://schemas.openxmlformats.org/officeDocument/2006/relationships/image" Target="../media/image-11-1.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740"/>
        </a:solidFill>
      </p:bgPr>
    </p:bg>
    <p:spTree>
      <p:nvGrpSpPr>
        <p:cNvPr id="1" name=""/>
        <p:cNvGrpSpPr/>
        <p:nvPr/>
      </p:nvGrpSpPr>
      <p:grpSpPr>
        <a:xfrm>
          <a:off x="0" y="0"/>
          <a:ext cx="0" cy="0"/>
          <a:chOff x="0" y="0"/>
          <a:chExt cx="0" cy="0"/>
        </a:xfrm>
      </p:grpSpPr>
      <p:sp>
        <p:nvSpPr>
          <p:cNvPr id="2" name="Shape 0"/>
          <p:cNvSpPr/>
          <p:nvPr/>
        </p:nvSpPr>
        <p:spPr>
          <a:xfrm>
            <a:off x="9418320" y="-1188720"/>
            <a:ext cx="4114800" cy="4114800"/>
          </a:xfrm>
          <a:prstGeom prst="ellipse">
            <a:avLst/>
          </a:prstGeom>
          <a:solidFill>
            <a:srgbClr val="2E2A5C">
              <a:alpha val="60000"/>
            </a:srgbClr>
          </a:solidFill>
          <a:ln/>
        </p:spPr>
      </p:sp>
      <p:sp>
        <p:nvSpPr>
          <p:cNvPr id="3" name="Shape 1"/>
          <p:cNvSpPr/>
          <p:nvPr/>
        </p:nvSpPr>
        <p:spPr>
          <a:xfrm>
            <a:off x="10607040" y="-274320"/>
            <a:ext cx="2377440" cy="2377440"/>
          </a:xfrm>
          <a:prstGeom prst="ellipse">
            <a:avLst/>
          </a:prstGeom>
          <a:solidFill>
            <a:srgbClr val="F4A259">
              <a:alpha val="45000"/>
            </a:srgbClr>
          </a:solidFill>
          <a:ln/>
        </p:spPr>
      </p:sp>
      <p:sp>
        <p:nvSpPr>
          <p:cNvPr id="4" name="Text 2"/>
          <p:cNvSpPr/>
          <p:nvPr/>
        </p:nvSpPr>
        <p:spPr>
          <a:xfrm>
            <a:off x="640080" y="1417320"/>
            <a:ext cx="8229600" cy="365760"/>
          </a:xfrm>
          <a:prstGeom prst="rect">
            <a:avLst/>
          </a:prstGeom>
          <a:noFill/>
          <a:ln/>
        </p:spPr>
        <p:txBody>
          <a:bodyPr wrap="square" rtlCol="0" anchor="ctr"/>
          <a:lstStyle/>
          <a:p>
            <a:pPr indent="0" marL="0">
              <a:buNone/>
            </a:pPr>
            <a:r>
              <a:rPr lang="en-US" sz="1300" b="1" spc="200" kern="0" dirty="0">
                <a:solidFill>
                  <a:srgbClr val="F4A259"/>
                </a:solidFill>
                <a:latin typeface="Calibri" pitchFamily="34" charset="0"/>
                <a:ea typeface="Calibri" pitchFamily="34" charset="-122"/>
                <a:cs typeface="Calibri" pitchFamily="34" charset="-120"/>
              </a:rPr>
              <a:t>COMPUTER VISION  •  TECHNICAL PRESENTATION</a:t>
            </a:r>
            <a:endParaRPr lang="en-US" sz="1300" dirty="0"/>
          </a:p>
        </p:txBody>
      </p:sp>
      <p:sp>
        <p:nvSpPr>
          <p:cNvPr id="5" name="Text 3"/>
          <p:cNvSpPr/>
          <p:nvPr/>
        </p:nvSpPr>
        <p:spPr>
          <a:xfrm>
            <a:off x="594360" y="1828800"/>
            <a:ext cx="10058400" cy="1920240"/>
          </a:xfrm>
          <a:prstGeom prst="rect">
            <a:avLst/>
          </a:prstGeom>
          <a:noFill/>
          <a:ln/>
        </p:spPr>
        <p:txBody>
          <a:bodyPr wrap="square"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Analyzing Perspective Distortion</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in Real-World Images</a:t>
            </a:r>
            <a:endParaRPr lang="en-US" sz="4000" dirty="0"/>
          </a:p>
        </p:txBody>
      </p:sp>
      <p:sp>
        <p:nvSpPr>
          <p:cNvPr id="6" name="Text 4"/>
          <p:cNvSpPr/>
          <p:nvPr/>
        </p:nvSpPr>
        <p:spPr>
          <a:xfrm>
            <a:off x="640080" y="3703320"/>
            <a:ext cx="9144000" cy="457200"/>
          </a:xfrm>
          <a:prstGeom prst="rect">
            <a:avLst/>
          </a:prstGeom>
          <a:noFill/>
          <a:ln/>
        </p:spPr>
        <p:txBody>
          <a:bodyPr wrap="square" rtlCol="0" anchor="ctr"/>
          <a:lstStyle/>
          <a:p>
            <a:pPr indent="0" marL="0">
              <a:buNone/>
            </a:pPr>
            <a:r>
              <a:rPr lang="en-US" sz="1600" i="1" dirty="0">
                <a:solidFill>
                  <a:srgbClr val="C7C3E8"/>
                </a:solidFill>
                <a:latin typeface="Calibri" pitchFamily="34" charset="0"/>
                <a:ea typeface="Calibri" pitchFamily="34" charset="-122"/>
                <a:cs typeface="Calibri" pitchFamily="34" charset="-120"/>
              </a:rPr>
              <a:t>How geometry, lenses, and viewpoint reshape what a camera sees</a:t>
            </a:r>
            <a:endParaRPr lang="en-US" sz="1600" dirty="0"/>
          </a:p>
        </p:txBody>
      </p:sp>
      <p:sp>
        <p:nvSpPr>
          <p:cNvPr id="7" name="Shape 5"/>
          <p:cNvSpPr/>
          <p:nvPr/>
        </p:nvSpPr>
        <p:spPr>
          <a:xfrm>
            <a:off x="640080" y="4343400"/>
            <a:ext cx="1280160" cy="0"/>
          </a:xfrm>
          <a:prstGeom prst="line">
            <a:avLst/>
          </a:prstGeom>
          <a:noFill/>
          <a:ln w="31750">
            <a:solidFill>
              <a:srgbClr val="F4A259"/>
            </a:solidFill>
            <a:prstDash val="solid"/>
          </a:ln>
        </p:spPr>
      </p:sp>
      <p:sp>
        <p:nvSpPr>
          <p:cNvPr id="8" name="Text 6"/>
          <p:cNvSpPr/>
          <p:nvPr/>
        </p:nvSpPr>
        <p:spPr>
          <a:xfrm>
            <a:off x="640080" y="5669280"/>
            <a:ext cx="7315200" cy="320040"/>
          </a:xfrm>
          <a:prstGeom prst="rect">
            <a:avLst/>
          </a:prstGeom>
          <a:noFill/>
          <a:ln/>
        </p:spPr>
        <p:txBody>
          <a:bodyPr wrap="square" rtlCol="0" anchor="ctr"/>
          <a:lstStyle/>
          <a:p>
            <a:pPr indent="0" marL="0">
              <a:buNone/>
            </a:pPr>
            <a:r>
              <a:rPr lang="en-US" sz="1300" b="1" dirty="0">
                <a:solidFill>
                  <a:srgbClr val="A6A2D4"/>
                </a:solidFill>
                <a:latin typeface="Calibri" pitchFamily="34" charset="0"/>
                <a:ea typeface="Calibri" pitchFamily="34" charset="-122"/>
                <a:cs typeface="Calibri" pitchFamily="34" charset="-120"/>
              </a:rPr>
              <a:t>Course: </a:t>
            </a:r>
            <a:pPr indent="0" marL="0">
              <a:buNone/>
            </a:pPr>
            <a:r>
              <a:rPr lang="en-US" sz="1300" dirty="0">
                <a:solidFill>
                  <a:srgbClr val="FFFFFF"/>
                </a:solidFill>
                <a:latin typeface="Calibri" pitchFamily="34" charset="0"/>
                <a:ea typeface="Calibri" pitchFamily="34" charset="-122"/>
                <a:cs typeface="Calibri" pitchFamily="34" charset="-120"/>
              </a:rPr>
              <a:t>Computer Vision (ITA05)</a:t>
            </a:r>
            <a:endParaRPr lang="en-US" sz="1300" dirty="0"/>
          </a:p>
        </p:txBody>
      </p:sp>
      <p:sp>
        <p:nvSpPr>
          <p:cNvPr id="9" name="Text 7"/>
          <p:cNvSpPr/>
          <p:nvPr/>
        </p:nvSpPr>
        <p:spPr>
          <a:xfrm>
            <a:off x="640080" y="5989320"/>
            <a:ext cx="10607040" cy="320040"/>
          </a:xfrm>
          <a:prstGeom prst="rect">
            <a:avLst/>
          </a:prstGeom>
          <a:noFill/>
          <a:ln/>
        </p:spPr>
        <p:txBody>
          <a:bodyPr wrap="square" rtlCol="0" anchor="ctr"/>
          <a:lstStyle/>
          <a:p>
            <a:pPr indent="0" marL="0">
              <a:buNone/>
            </a:pPr>
            <a:r>
              <a:rPr lang="en-US" sz="1300" b="1" dirty="0">
                <a:solidFill>
                  <a:srgbClr val="A6A2D4"/>
                </a:solidFill>
                <a:latin typeface="Calibri" pitchFamily="34" charset="0"/>
                <a:ea typeface="Calibri" pitchFamily="34" charset="-122"/>
                <a:cs typeface="Calibri" pitchFamily="34" charset="-120"/>
              </a:rPr>
              <a:t>Topic: </a:t>
            </a:r>
            <a:pPr indent="0" marL="0">
              <a:buNone/>
            </a:pPr>
            <a:r>
              <a:rPr lang="en-US" sz="1300" dirty="0">
                <a:solidFill>
                  <a:srgbClr val="FFFFFF"/>
                </a:solidFill>
                <a:latin typeface="Calibri" pitchFamily="34" charset="0"/>
                <a:ea typeface="Calibri" pitchFamily="34" charset="-122"/>
                <a:cs typeface="Calibri" pitchFamily="34" charset="-120"/>
              </a:rPr>
              <a:t>Analyze perspective distortion in real-world images, using visual examples and structured explanation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5486400" cy="640080"/>
          </a:xfrm>
          <a:prstGeom prst="rect">
            <a:avLst/>
          </a:prstGeom>
          <a:noFill/>
          <a:ln/>
        </p:spPr>
        <p:txBody>
          <a:bodyPr wrap="square" rtlCol="0" anchor="ctr"/>
          <a:lstStyle/>
          <a:p>
            <a:pPr indent="0" marL="0">
              <a:buNone/>
            </a:pPr>
            <a:r>
              <a:rPr lang="en-US" sz="3200" b="1" dirty="0">
                <a:solidFill>
                  <a:srgbClr val="1F2333"/>
                </a:solidFill>
                <a:latin typeface="Cambria" pitchFamily="34" charset="0"/>
                <a:ea typeface="Cambria" pitchFamily="34" charset="-122"/>
                <a:cs typeface="Cambria" pitchFamily="34" charset="-120"/>
              </a:rPr>
              <a:t>Agenda</a:t>
            </a:r>
            <a:endParaRPr lang="en-US" sz="3200" dirty="0"/>
          </a:p>
        </p:txBody>
      </p:sp>
      <p:sp>
        <p:nvSpPr>
          <p:cNvPr id="3" name="Text 1"/>
          <p:cNvSpPr/>
          <p:nvPr/>
        </p:nvSpPr>
        <p:spPr>
          <a:xfrm>
            <a:off x="640080" y="1005840"/>
            <a:ext cx="5486400" cy="365760"/>
          </a:xfrm>
          <a:prstGeom prst="rect">
            <a:avLst/>
          </a:prstGeom>
          <a:noFill/>
          <a:ln/>
        </p:spPr>
        <p:txBody>
          <a:bodyPr wrap="square" rtlCol="0" anchor="ctr"/>
          <a:lstStyle/>
          <a:p>
            <a:pPr indent="0" marL="0">
              <a:buNone/>
            </a:pPr>
            <a:r>
              <a:rPr lang="en-US" sz="1300" dirty="0">
                <a:solidFill>
                  <a:srgbClr val="6A6E82"/>
                </a:solidFill>
                <a:latin typeface="Calibri" pitchFamily="34" charset="0"/>
                <a:ea typeface="Calibri" pitchFamily="34" charset="-122"/>
                <a:cs typeface="Calibri" pitchFamily="34" charset="-120"/>
              </a:rPr>
              <a:t>What we'll cover</a:t>
            </a:r>
            <a:endParaRPr lang="en-US" sz="1300" dirty="0"/>
          </a:p>
        </p:txBody>
      </p:sp>
      <p:sp>
        <p:nvSpPr>
          <p:cNvPr id="4" name="Shape 2"/>
          <p:cNvSpPr/>
          <p:nvPr/>
        </p:nvSpPr>
        <p:spPr>
          <a:xfrm>
            <a:off x="640080" y="1600200"/>
            <a:ext cx="502920" cy="502920"/>
          </a:xfrm>
          <a:prstGeom prst="ellipse">
            <a:avLst/>
          </a:prstGeom>
          <a:solidFill>
            <a:srgbClr val="2E2A5C"/>
          </a:solidFill>
          <a:ln/>
        </p:spPr>
      </p:sp>
      <p:pic>
        <p:nvPicPr>
          <p:cNvPr id="5" name="Image 0" descr="/home/claude/ppt3/icons/camera.png">    </p:cNvPr>
          <p:cNvPicPr>
            <a:picLocks noChangeAspect="1"/>
          </p:cNvPicPr>
          <p:nvPr/>
        </p:nvPicPr>
        <p:blipFill>
          <a:blip r:embed="rId1"/>
          <a:stretch>
            <a:fillRect/>
          </a:stretch>
        </p:blipFill>
        <p:spPr>
          <a:xfrm>
            <a:off x="760781" y="1720901"/>
            <a:ext cx="261518" cy="261518"/>
          </a:xfrm>
          <a:prstGeom prst="rect">
            <a:avLst/>
          </a:prstGeom>
        </p:spPr>
      </p:pic>
      <p:sp>
        <p:nvSpPr>
          <p:cNvPr id="6" name="Text 3"/>
          <p:cNvSpPr/>
          <p:nvPr/>
        </p:nvSpPr>
        <p:spPr>
          <a:xfrm>
            <a:off x="1325880" y="1572768"/>
            <a:ext cx="4480560" cy="320040"/>
          </a:xfrm>
          <a:prstGeom prst="rect">
            <a:avLst/>
          </a:prstGeom>
          <a:noFill/>
          <a:ln/>
        </p:spPr>
        <p:txBody>
          <a:bodyPr wrap="square" rtlCol="0" anchor="ctr"/>
          <a:lstStyle/>
          <a:p>
            <a:pPr indent="0" marL="0">
              <a:buNone/>
            </a:pPr>
            <a:r>
              <a:rPr lang="en-US" sz="1450" b="1" dirty="0">
                <a:solidFill>
                  <a:srgbClr val="1F2333"/>
                </a:solidFill>
                <a:latin typeface="Calibri" pitchFamily="34" charset="0"/>
                <a:ea typeface="Calibri" pitchFamily="34" charset="-122"/>
                <a:cs typeface="Calibri" pitchFamily="34" charset="-120"/>
              </a:rPr>
              <a:t>What Is Perspective Distortion?</a:t>
            </a:r>
            <a:endParaRPr lang="en-US" sz="1450" dirty="0"/>
          </a:p>
        </p:txBody>
      </p:sp>
      <p:sp>
        <p:nvSpPr>
          <p:cNvPr id="7" name="Text 4"/>
          <p:cNvSpPr/>
          <p:nvPr/>
        </p:nvSpPr>
        <p:spPr>
          <a:xfrm>
            <a:off x="1325880" y="1892808"/>
            <a:ext cx="4480560" cy="365760"/>
          </a:xfrm>
          <a:prstGeom prst="rect">
            <a:avLst/>
          </a:prstGeom>
          <a:noFill/>
          <a:ln/>
        </p:spPr>
        <p:txBody>
          <a:bodyPr wrap="square" rtlCol="0" anchor="ctr"/>
          <a:lstStyle/>
          <a:p>
            <a:pPr indent="0" marL="0">
              <a:buNone/>
            </a:pPr>
            <a:r>
              <a:rPr lang="en-US" sz="1100" dirty="0">
                <a:solidFill>
                  <a:srgbClr val="6A6E82"/>
                </a:solidFill>
                <a:latin typeface="Calibri" pitchFamily="34" charset="0"/>
                <a:ea typeface="Calibri" pitchFamily="34" charset="-122"/>
                <a:cs typeface="Calibri" pitchFamily="34" charset="-120"/>
              </a:rPr>
              <a:t>Projecting a 3D world onto a 2D sensor</a:t>
            </a:r>
            <a:endParaRPr lang="en-US" sz="1100" dirty="0"/>
          </a:p>
        </p:txBody>
      </p:sp>
      <p:sp>
        <p:nvSpPr>
          <p:cNvPr id="8" name="Shape 5"/>
          <p:cNvSpPr/>
          <p:nvPr/>
        </p:nvSpPr>
        <p:spPr>
          <a:xfrm>
            <a:off x="640080" y="2770632"/>
            <a:ext cx="502920" cy="502920"/>
          </a:xfrm>
          <a:prstGeom prst="ellipse">
            <a:avLst/>
          </a:prstGeom>
          <a:solidFill>
            <a:srgbClr val="2E2A5C"/>
          </a:solidFill>
          <a:ln/>
        </p:spPr>
      </p:sp>
      <p:pic>
        <p:nvPicPr>
          <p:cNvPr id="9" name="Image 1" descr="/home/claude/ppt3/icons/grid.png">    </p:cNvPr>
          <p:cNvPicPr>
            <a:picLocks noChangeAspect="1"/>
          </p:cNvPicPr>
          <p:nvPr/>
        </p:nvPicPr>
        <p:blipFill>
          <a:blip r:embed="rId2"/>
          <a:stretch>
            <a:fillRect/>
          </a:stretch>
        </p:blipFill>
        <p:spPr>
          <a:xfrm>
            <a:off x="760781" y="2891333"/>
            <a:ext cx="261518" cy="261518"/>
          </a:xfrm>
          <a:prstGeom prst="rect">
            <a:avLst/>
          </a:prstGeom>
        </p:spPr>
      </p:pic>
      <p:sp>
        <p:nvSpPr>
          <p:cNvPr id="10" name="Text 6"/>
          <p:cNvSpPr/>
          <p:nvPr/>
        </p:nvSpPr>
        <p:spPr>
          <a:xfrm>
            <a:off x="1325880" y="2743200"/>
            <a:ext cx="4480560" cy="320040"/>
          </a:xfrm>
          <a:prstGeom prst="rect">
            <a:avLst/>
          </a:prstGeom>
          <a:noFill/>
          <a:ln/>
        </p:spPr>
        <p:txBody>
          <a:bodyPr wrap="square" rtlCol="0" anchor="ctr"/>
          <a:lstStyle/>
          <a:p>
            <a:pPr indent="0" marL="0">
              <a:buNone/>
            </a:pPr>
            <a:r>
              <a:rPr lang="en-US" sz="1450" b="1" dirty="0">
                <a:solidFill>
                  <a:srgbClr val="1F2333"/>
                </a:solidFill>
                <a:latin typeface="Calibri" pitchFamily="34" charset="0"/>
                <a:ea typeface="Calibri" pitchFamily="34" charset="-122"/>
                <a:cs typeface="Calibri" pitchFamily="34" charset="-120"/>
              </a:rPr>
              <a:t>A Taxonomy of Distortion Types</a:t>
            </a:r>
            <a:endParaRPr lang="en-US" sz="1450" dirty="0"/>
          </a:p>
        </p:txBody>
      </p:sp>
      <p:sp>
        <p:nvSpPr>
          <p:cNvPr id="11" name="Text 7"/>
          <p:cNvSpPr/>
          <p:nvPr/>
        </p:nvSpPr>
        <p:spPr>
          <a:xfrm>
            <a:off x="1325880" y="3063240"/>
            <a:ext cx="4480560" cy="365760"/>
          </a:xfrm>
          <a:prstGeom prst="rect">
            <a:avLst/>
          </a:prstGeom>
          <a:noFill/>
          <a:ln/>
        </p:spPr>
        <p:txBody>
          <a:bodyPr wrap="square" rtlCol="0" anchor="ctr"/>
          <a:lstStyle/>
          <a:p>
            <a:pPr indent="0" marL="0">
              <a:buNone/>
            </a:pPr>
            <a:r>
              <a:rPr lang="en-US" sz="1100" dirty="0">
                <a:solidFill>
                  <a:srgbClr val="6A6E82"/>
                </a:solidFill>
                <a:latin typeface="Calibri" pitchFamily="34" charset="0"/>
                <a:ea typeface="Calibri" pitchFamily="34" charset="-122"/>
                <a:cs typeface="Calibri" pitchFamily="34" charset="-120"/>
              </a:rPr>
              <a:t>Keystone, barrel, pincushion &amp; compression</a:t>
            </a:r>
            <a:endParaRPr lang="en-US" sz="1100" dirty="0"/>
          </a:p>
        </p:txBody>
      </p:sp>
      <p:sp>
        <p:nvSpPr>
          <p:cNvPr id="12" name="Shape 8"/>
          <p:cNvSpPr/>
          <p:nvPr/>
        </p:nvSpPr>
        <p:spPr>
          <a:xfrm>
            <a:off x="640080" y="3941064"/>
            <a:ext cx="502920" cy="502920"/>
          </a:xfrm>
          <a:prstGeom prst="ellipse">
            <a:avLst/>
          </a:prstGeom>
          <a:solidFill>
            <a:srgbClr val="2E2A5C"/>
          </a:solidFill>
          <a:ln/>
        </p:spPr>
      </p:sp>
      <p:pic>
        <p:nvPicPr>
          <p:cNvPr id="13" name="Image 2" descr="/home/claude/ppt3/icons/home.png">    </p:cNvPr>
          <p:cNvPicPr>
            <a:picLocks noChangeAspect="1"/>
          </p:cNvPicPr>
          <p:nvPr/>
        </p:nvPicPr>
        <p:blipFill>
          <a:blip r:embed="rId3"/>
          <a:stretch>
            <a:fillRect/>
          </a:stretch>
        </p:blipFill>
        <p:spPr>
          <a:xfrm>
            <a:off x="760781" y="4061765"/>
            <a:ext cx="261518" cy="261518"/>
          </a:xfrm>
          <a:prstGeom prst="rect">
            <a:avLst/>
          </a:prstGeom>
        </p:spPr>
      </p:pic>
      <p:sp>
        <p:nvSpPr>
          <p:cNvPr id="14" name="Text 9"/>
          <p:cNvSpPr/>
          <p:nvPr/>
        </p:nvSpPr>
        <p:spPr>
          <a:xfrm>
            <a:off x="1325880" y="3913632"/>
            <a:ext cx="4480560" cy="320040"/>
          </a:xfrm>
          <a:prstGeom prst="rect">
            <a:avLst/>
          </a:prstGeom>
          <a:noFill/>
          <a:ln/>
        </p:spPr>
        <p:txBody>
          <a:bodyPr wrap="square" rtlCol="0" anchor="ctr"/>
          <a:lstStyle/>
          <a:p>
            <a:pPr indent="0" marL="0">
              <a:buNone/>
            </a:pPr>
            <a:r>
              <a:rPr lang="en-US" sz="1450" b="1" dirty="0">
                <a:solidFill>
                  <a:srgbClr val="1F2333"/>
                </a:solidFill>
                <a:latin typeface="Calibri" pitchFamily="34" charset="0"/>
                <a:ea typeface="Calibri" pitchFamily="34" charset="-122"/>
                <a:cs typeface="Calibri" pitchFamily="34" charset="-120"/>
              </a:rPr>
              <a:t>Visual Example — Keystone Effect</a:t>
            </a:r>
            <a:endParaRPr lang="en-US" sz="1450" dirty="0"/>
          </a:p>
        </p:txBody>
      </p:sp>
      <p:sp>
        <p:nvSpPr>
          <p:cNvPr id="15" name="Text 10"/>
          <p:cNvSpPr/>
          <p:nvPr/>
        </p:nvSpPr>
        <p:spPr>
          <a:xfrm>
            <a:off x="1325880" y="4233672"/>
            <a:ext cx="4480560" cy="365760"/>
          </a:xfrm>
          <a:prstGeom prst="rect">
            <a:avLst/>
          </a:prstGeom>
          <a:noFill/>
          <a:ln/>
        </p:spPr>
        <p:txBody>
          <a:bodyPr wrap="square" rtlCol="0" anchor="ctr"/>
          <a:lstStyle/>
          <a:p>
            <a:pPr indent="0" marL="0">
              <a:buNone/>
            </a:pPr>
            <a:r>
              <a:rPr lang="en-US" sz="1100" dirty="0">
                <a:solidFill>
                  <a:srgbClr val="6A6E82"/>
                </a:solidFill>
                <a:latin typeface="Calibri" pitchFamily="34" charset="0"/>
                <a:ea typeface="Calibri" pitchFamily="34" charset="-122"/>
                <a:cs typeface="Calibri" pitchFamily="34" charset="-120"/>
              </a:rPr>
              <a:t>Converging verticals in architecture shots</a:t>
            </a:r>
            <a:endParaRPr lang="en-US" sz="1100" dirty="0"/>
          </a:p>
        </p:txBody>
      </p:sp>
      <p:sp>
        <p:nvSpPr>
          <p:cNvPr id="16" name="Shape 11"/>
          <p:cNvSpPr/>
          <p:nvPr/>
        </p:nvSpPr>
        <p:spPr>
          <a:xfrm>
            <a:off x="640080" y="5111496"/>
            <a:ext cx="502920" cy="502920"/>
          </a:xfrm>
          <a:prstGeom prst="ellipse">
            <a:avLst/>
          </a:prstGeom>
          <a:solidFill>
            <a:srgbClr val="2E2A5C"/>
          </a:solidFill>
          <a:ln/>
        </p:spPr>
      </p:sp>
      <p:pic>
        <p:nvPicPr>
          <p:cNvPr id="17" name="Image 3" descr="/home/claude/ppt3/icons/aperture.png">    </p:cNvPr>
          <p:cNvPicPr>
            <a:picLocks noChangeAspect="1"/>
          </p:cNvPicPr>
          <p:nvPr/>
        </p:nvPicPr>
        <p:blipFill>
          <a:blip r:embed="rId4"/>
          <a:stretch>
            <a:fillRect/>
          </a:stretch>
        </p:blipFill>
        <p:spPr>
          <a:xfrm>
            <a:off x="760781" y="5232197"/>
            <a:ext cx="261518" cy="261518"/>
          </a:xfrm>
          <a:prstGeom prst="rect">
            <a:avLst/>
          </a:prstGeom>
        </p:spPr>
      </p:pic>
      <p:sp>
        <p:nvSpPr>
          <p:cNvPr id="18" name="Text 12"/>
          <p:cNvSpPr/>
          <p:nvPr/>
        </p:nvSpPr>
        <p:spPr>
          <a:xfrm>
            <a:off x="1325880" y="5084064"/>
            <a:ext cx="4480560" cy="320040"/>
          </a:xfrm>
          <a:prstGeom prst="rect">
            <a:avLst/>
          </a:prstGeom>
          <a:noFill/>
          <a:ln/>
        </p:spPr>
        <p:txBody>
          <a:bodyPr wrap="square" rtlCol="0" anchor="ctr"/>
          <a:lstStyle/>
          <a:p>
            <a:pPr indent="0" marL="0">
              <a:buNone/>
            </a:pPr>
            <a:r>
              <a:rPr lang="en-US" sz="1450" b="1" dirty="0">
                <a:solidFill>
                  <a:srgbClr val="1F2333"/>
                </a:solidFill>
                <a:latin typeface="Calibri" pitchFamily="34" charset="0"/>
                <a:ea typeface="Calibri" pitchFamily="34" charset="-122"/>
                <a:cs typeface="Calibri" pitchFamily="34" charset="-120"/>
              </a:rPr>
              <a:t>Visual Example — Lens Distortion</a:t>
            </a:r>
            <a:endParaRPr lang="en-US" sz="1450" dirty="0"/>
          </a:p>
        </p:txBody>
      </p:sp>
      <p:sp>
        <p:nvSpPr>
          <p:cNvPr id="19" name="Text 13"/>
          <p:cNvSpPr/>
          <p:nvPr/>
        </p:nvSpPr>
        <p:spPr>
          <a:xfrm>
            <a:off x="1325880" y="5404104"/>
            <a:ext cx="4480560" cy="365760"/>
          </a:xfrm>
          <a:prstGeom prst="rect">
            <a:avLst/>
          </a:prstGeom>
          <a:noFill/>
          <a:ln/>
        </p:spPr>
        <p:txBody>
          <a:bodyPr wrap="square" rtlCol="0" anchor="ctr"/>
          <a:lstStyle/>
          <a:p>
            <a:pPr indent="0" marL="0">
              <a:buNone/>
            </a:pPr>
            <a:r>
              <a:rPr lang="en-US" sz="1100" dirty="0">
                <a:solidFill>
                  <a:srgbClr val="6A6E82"/>
                </a:solidFill>
                <a:latin typeface="Calibri" pitchFamily="34" charset="0"/>
                <a:ea typeface="Calibri" pitchFamily="34" charset="-122"/>
                <a:cs typeface="Calibri" pitchFamily="34" charset="-120"/>
              </a:rPr>
              <a:t>Barrel vs. pincushion grids</a:t>
            </a:r>
            <a:endParaRPr lang="en-US" sz="1100" dirty="0"/>
          </a:p>
        </p:txBody>
      </p:sp>
      <p:sp>
        <p:nvSpPr>
          <p:cNvPr id="20" name="Shape 14"/>
          <p:cNvSpPr/>
          <p:nvPr/>
        </p:nvSpPr>
        <p:spPr>
          <a:xfrm>
            <a:off x="6309360" y="1600200"/>
            <a:ext cx="502920" cy="502920"/>
          </a:xfrm>
          <a:prstGeom prst="ellipse">
            <a:avLst/>
          </a:prstGeom>
          <a:solidFill>
            <a:srgbClr val="5B57A3"/>
          </a:solidFill>
          <a:ln/>
        </p:spPr>
      </p:sp>
      <p:pic>
        <p:nvPicPr>
          <p:cNvPr id="21" name="Image 4" descr="/home/claude/ppt3/icons/zoomin.png">    </p:cNvPr>
          <p:cNvPicPr>
            <a:picLocks noChangeAspect="1"/>
          </p:cNvPicPr>
          <p:nvPr/>
        </p:nvPicPr>
        <p:blipFill>
          <a:blip r:embed="rId5"/>
          <a:stretch>
            <a:fillRect/>
          </a:stretch>
        </p:blipFill>
        <p:spPr>
          <a:xfrm>
            <a:off x="6430061" y="1720901"/>
            <a:ext cx="261518" cy="261518"/>
          </a:xfrm>
          <a:prstGeom prst="rect">
            <a:avLst/>
          </a:prstGeom>
        </p:spPr>
      </p:pic>
      <p:sp>
        <p:nvSpPr>
          <p:cNvPr id="22" name="Text 15"/>
          <p:cNvSpPr/>
          <p:nvPr/>
        </p:nvSpPr>
        <p:spPr>
          <a:xfrm>
            <a:off x="6995160" y="1572768"/>
            <a:ext cx="4480560" cy="320040"/>
          </a:xfrm>
          <a:prstGeom prst="rect">
            <a:avLst/>
          </a:prstGeom>
          <a:noFill/>
          <a:ln/>
        </p:spPr>
        <p:txBody>
          <a:bodyPr wrap="square" rtlCol="0" anchor="ctr"/>
          <a:lstStyle/>
          <a:p>
            <a:pPr indent="0" marL="0">
              <a:buNone/>
            </a:pPr>
            <a:r>
              <a:rPr lang="en-US" sz="1450" b="1" dirty="0">
                <a:solidFill>
                  <a:srgbClr val="1F2333"/>
                </a:solidFill>
                <a:latin typeface="Calibri" pitchFamily="34" charset="0"/>
                <a:ea typeface="Calibri" pitchFamily="34" charset="-122"/>
                <a:cs typeface="Calibri" pitchFamily="34" charset="-120"/>
              </a:rPr>
              <a:t>Visual Example — Perspective Compression</a:t>
            </a:r>
            <a:endParaRPr lang="en-US" sz="1450" dirty="0"/>
          </a:p>
        </p:txBody>
      </p:sp>
      <p:sp>
        <p:nvSpPr>
          <p:cNvPr id="23" name="Text 16"/>
          <p:cNvSpPr/>
          <p:nvPr/>
        </p:nvSpPr>
        <p:spPr>
          <a:xfrm>
            <a:off x="6995160" y="1892808"/>
            <a:ext cx="4480560" cy="365760"/>
          </a:xfrm>
          <a:prstGeom prst="rect">
            <a:avLst/>
          </a:prstGeom>
          <a:noFill/>
          <a:ln/>
        </p:spPr>
        <p:txBody>
          <a:bodyPr wrap="square" rtlCol="0" anchor="ctr"/>
          <a:lstStyle/>
          <a:p>
            <a:pPr indent="0" marL="0">
              <a:buNone/>
            </a:pPr>
            <a:r>
              <a:rPr lang="en-US" sz="1100" dirty="0">
                <a:solidFill>
                  <a:srgbClr val="6A6E82"/>
                </a:solidFill>
                <a:latin typeface="Calibri" pitchFamily="34" charset="0"/>
                <a:ea typeface="Calibri" pitchFamily="34" charset="-122"/>
                <a:cs typeface="Calibri" pitchFamily="34" charset="-120"/>
              </a:rPr>
              <a:t>Focal length &amp; camera distance</a:t>
            </a:r>
            <a:endParaRPr lang="en-US" sz="1100" dirty="0"/>
          </a:p>
        </p:txBody>
      </p:sp>
      <p:sp>
        <p:nvSpPr>
          <p:cNvPr id="24" name="Shape 17"/>
          <p:cNvSpPr/>
          <p:nvPr/>
        </p:nvSpPr>
        <p:spPr>
          <a:xfrm>
            <a:off x="6309360" y="2770632"/>
            <a:ext cx="502920" cy="502920"/>
          </a:xfrm>
          <a:prstGeom prst="ellipse">
            <a:avLst/>
          </a:prstGeom>
          <a:solidFill>
            <a:srgbClr val="5B57A3"/>
          </a:solidFill>
          <a:ln/>
        </p:spPr>
      </p:sp>
      <p:pic>
        <p:nvPicPr>
          <p:cNvPr id="25" name="Image 5" descr="/home/claude/ppt3/icons/target.png">    </p:cNvPr>
          <p:cNvPicPr>
            <a:picLocks noChangeAspect="1"/>
          </p:cNvPicPr>
          <p:nvPr/>
        </p:nvPicPr>
        <p:blipFill>
          <a:blip r:embed="rId6"/>
          <a:stretch>
            <a:fillRect/>
          </a:stretch>
        </p:blipFill>
        <p:spPr>
          <a:xfrm>
            <a:off x="6430061" y="2891333"/>
            <a:ext cx="261518" cy="261518"/>
          </a:xfrm>
          <a:prstGeom prst="rect">
            <a:avLst/>
          </a:prstGeom>
        </p:spPr>
      </p:pic>
      <p:sp>
        <p:nvSpPr>
          <p:cNvPr id="26" name="Text 18"/>
          <p:cNvSpPr/>
          <p:nvPr/>
        </p:nvSpPr>
        <p:spPr>
          <a:xfrm>
            <a:off x="6995160" y="2743200"/>
            <a:ext cx="4480560" cy="320040"/>
          </a:xfrm>
          <a:prstGeom prst="rect">
            <a:avLst/>
          </a:prstGeom>
          <a:noFill/>
          <a:ln/>
        </p:spPr>
        <p:txBody>
          <a:bodyPr wrap="square" rtlCol="0" anchor="ctr"/>
          <a:lstStyle/>
          <a:p>
            <a:pPr indent="0" marL="0">
              <a:buNone/>
            </a:pPr>
            <a:r>
              <a:rPr lang="en-US" sz="1450" b="1" dirty="0">
                <a:solidFill>
                  <a:srgbClr val="1F2333"/>
                </a:solidFill>
                <a:latin typeface="Calibri" pitchFamily="34" charset="0"/>
                <a:ea typeface="Calibri" pitchFamily="34" charset="-122"/>
                <a:cs typeface="Calibri" pitchFamily="34" charset="-120"/>
              </a:rPr>
              <a:t>Root Causes</a:t>
            </a:r>
            <a:endParaRPr lang="en-US" sz="1450" dirty="0"/>
          </a:p>
        </p:txBody>
      </p:sp>
      <p:sp>
        <p:nvSpPr>
          <p:cNvPr id="27" name="Text 19"/>
          <p:cNvSpPr/>
          <p:nvPr/>
        </p:nvSpPr>
        <p:spPr>
          <a:xfrm>
            <a:off x="6995160" y="3063240"/>
            <a:ext cx="4480560" cy="365760"/>
          </a:xfrm>
          <a:prstGeom prst="rect">
            <a:avLst/>
          </a:prstGeom>
          <a:noFill/>
          <a:ln/>
        </p:spPr>
        <p:txBody>
          <a:bodyPr wrap="square" rtlCol="0" anchor="ctr"/>
          <a:lstStyle/>
          <a:p>
            <a:pPr indent="0" marL="0">
              <a:buNone/>
            </a:pPr>
            <a:r>
              <a:rPr lang="en-US" sz="1100" dirty="0">
                <a:solidFill>
                  <a:srgbClr val="6A6E82"/>
                </a:solidFill>
                <a:latin typeface="Calibri" pitchFamily="34" charset="0"/>
                <a:ea typeface="Calibri" pitchFamily="34" charset="-122"/>
                <a:cs typeface="Calibri" pitchFamily="34" charset="-120"/>
              </a:rPr>
              <a:t>What drives each distortion type</a:t>
            </a:r>
            <a:endParaRPr lang="en-US" sz="1100" dirty="0"/>
          </a:p>
        </p:txBody>
      </p:sp>
      <p:sp>
        <p:nvSpPr>
          <p:cNvPr id="28" name="Shape 20"/>
          <p:cNvSpPr/>
          <p:nvPr/>
        </p:nvSpPr>
        <p:spPr>
          <a:xfrm>
            <a:off x="6309360" y="3941064"/>
            <a:ext cx="502920" cy="502920"/>
          </a:xfrm>
          <a:prstGeom prst="ellipse">
            <a:avLst/>
          </a:prstGeom>
          <a:solidFill>
            <a:srgbClr val="5B57A3"/>
          </a:solidFill>
          <a:ln/>
        </p:spPr>
      </p:sp>
      <p:pic>
        <p:nvPicPr>
          <p:cNvPr id="29" name="Image 6" descr="/home/claude/ppt3/icons/sliders.png">    </p:cNvPr>
          <p:cNvPicPr>
            <a:picLocks noChangeAspect="1"/>
          </p:cNvPicPr>
          <p:nvPr/>
        </p:nvPicPr>
        <p:blipFill>
          <a:blip r:embed="rId7"/>
          <a:stretch>
            <a:fillRect/>
          </a:stretch>
        </p:blipFill>
        <p:spPr>
          <a:xfrm>
            <a:off x="6430061" y="4061765"/>
            <a:ext cx="261518" cy="261518"/>
          </a:xfrm>
          <a:prstGeom prst="rect">
            <a:avLst/>
          </a:prstGeom>
        </p:spPr>
      </p:pic>
      <p:sp>
        <p:nvSpPr>
          <p:cNvPr id="30" name="Text 21"/>
          <p:cNvSpPr/>
          <p:nvPr/>
        </p:nvSpPr>
        <p:spPr>
          <a:xfrm>
            <a:off x="6995160" y="3913632"/>
            <a:ext cx="4480560" cy="320040"/>
          </a:xfrm>
          <a:prstGeom prst="rect">
            <a:avLst/>
          </a:prstGeom>
          <a:noFill/>
          <a:ln/>
        </p:spPr>
        <p:txBody>
          <a:bodyPr wrap="square" rtlCol="0" anchor="ctr"/>
          <a:lstStyle/>
          <a:p>
            <a:pPr indent="0" marL="0">
              <a:buNone/>
            </a:pPr>
            <a:r>
              <a:rPr lang="en-US" sz="1450" b="1" dirty="0">
                <a:solidFill>
                  <a:srgbClr val="1F2333"/>
                </a:solidFill>
                <a:latin typeface="Calibri" pitchFamily="34" charset="0"/>
                <a:ea typeface="Calibri" pitchFamily="34" charset="-122"/>
                <a:cs typeface="Calibri" pitchFamily="34" charset="-120"/>
              </a:rPr>
              <a:t>Correction Techniques</a:t>
            </a:r>
            <a:endParaRPr lang="en-US" sz="1450" dirty="0"/>
          </a:p>
        </p:txBody>
      </p:sp>
      <p:sp>
        <p:nvSpPr>
          <p:cNvPr id="31" name="Text 22"/>
          <p:cNvSpPr/>
          <p:nvPr/>
        </p:nvSpPr>
        <p:spPr>
          <a:xfrm>
            <a:off x="6995160" y="4233672"/>
            <a:ext cx="4480560" cy="365760"/>
          </a:xfrm>
          <a:prstGeom prst="rect">
            <a:avLst/>
          </a:prstGeom>
          <a:noFill/>
          <a:ln/>
        </p:spPr>
        <p:txBody>
          <a:bodyPr wrap="square" rtlCol="0" anchor="ctr"/>
          <a:lstStyle/>
          <a:p>
            <a:pPr indent="0" marL="0">
              <a:buNone/>
            </a:pPr>
            <a:r>
              <a:rPr lang="en-US" sz="1100" dirty="0">
                <a:solidFill>
                  <a:srgbClr val="6A6E82"/>
                </a:solidFill>
                <a:latin typeface="Calibri" pitchFamily="34" charset="0"/>
                <a:ea typeface="Calibri" pitchFamily="34" charset="-122"/>
                <a:cs typeface="Calibri" pitchFamily="34" charset="-120"/>
              </a:rPr>
              <a:t>Calibration &amp; software correction</a:t>
            </a:r>
            <a:endParaRPr lang="en-US" sz="1100" dirty="0"/>
          </a:p>
        </p:txBody>
      </p:sp>
      <p:sp>
        <p:nvSpPr>
          <p:cNvPr id="32" name="Shape 23"/>
          <p:cNvSpPr/>
          <p:nvPr/>
        </p:nvSpPr>
        <p:spPr>
          <a:xfrm>
            <a:off x="6309360" y="5111496"/>
            <a:ext cx="502920" cy="502920"/>
          </a:xfrm>
          <a:prstGeom prst="ellipse">
            <a:avLst/>
          </a:prstGeom>
          <a:solidFill>
            <a:srgbClr val="5B57A3"/>
          </a:solidFill>
          <a:ln/>
        </p:spPr>
      </p:sp>
      <p:pic>
        <p:nvPicPr>
          <p:cNvPr id="33" name="Image 7" descr="/home/claude/ppt3/icons/trend.png">    </p:cNvPr>
          <p:cNvPicPr>
            <a:picLocks noChangeAspect="1"/>
          </p:cNvPicPr>
          <p:nvPr/>
        </p:nvPicPr>
        <p:blipFill>
          <a:blip r:embed="rId8"/>
          <a:stretch>
            <a:fillRect/>
          </a:stretch>
        </p:blipFill>
        <p:spPr>
          <a:xfrm>
            <a:off x="6430061" y="5232197"/>
            <a:ext cx="261518" cy="261518"/>
          </a:xfrm>
          <a:prstGeom prst="rect">
            <a:avLst/>
          </a:prstGeom>
        </p:spPr>
      </p:pic>
      <p:sp>
        <p:nvSpPr>
          <p:cNvPr id="34" name="Text 24"/>
          <p:cNvSpPr/>
          <p:nvPr/>
        </p:nvSpPr>
        <p:spPr>
          <a:xfrm>
            <a:off x="6995160" y="5084064"/>
            <a:ext cx="4480560" cy="320040"/>
          </a:xfrm>
          <a:prstGeom prst="rect">
            <a:avLst/>
          </a:prstGeom>
          <a:noFill/>
          <a:ln/>
        </p:spPr>
        <p:txBody>
          <a:bodyPr wrap="square" rtlCol="0" anchor="ctr"/>
          <a:lstStyle/>
          <a:p>
            <a:pPr indent="0" marL="0">
              <a:buNone/>
            </a:pPr>
            <a:r>
              <a:rPr lang="en-US" sz="1450" b="1" dirty="0">
                <a:solidFill>
                  <a:srgbClr val="1F2333"/>
                </a:solidFill>
                <a:latin typeface="Calibri" pitchFamily="34" charset="0"/>
                <a:ea typeface="Calibri" pitchFamily="34" charset="-122"/>
                <a:cs typeface="Calibri" pitchFamily="34" charset="-120"/>
              </a:rPr>
              <a:t>Key Takeaways</a:t>
            </a:r>
            <a:endParaRPr lang="en-US" sz="1450" dirty="0"/>
          </a:p>
        </p:txBody>
      </p:sp>
      <p:sp>
        <p:nvSpPr>
          <p:cNvPr id="35" name="Text 25"/>
          <p:cNvSpPr/>
          <p:nvPr/>
        </p:nvSpPr>
        <p:spPr>
          <a:xfrm>
            <a:off x="6995160" y="5404104"/>
            <a:ext cx="4480560" cy="365760"/>
          </a:xfrm>
          <a:prstGeom prst="rect">
            <a:avLst/>
          </a:prstGeom>
          <a:noFill/>
          <a:ln/>
        </p:spPr>
        <p:txBody>
          <a:bodyPr wrap="square" rtlCol="0" anchor="ctr"/>
          <a:lstStyle/>
          <a:p>
            <a:pPr indent="0" marL="0">
              <a:buNone/>
            </a:pPr>
            <a:r>
              <a:rPr lang="en-US" sz="1100" dirty="0">
                <a:solidFill>
                  <a:srgbClr val="6A6E82"/>
                </a:solidFill>
                <a:latin typeface="Calibri" pitchFamily="34" charset="0"/>
                <a:ea typeface="Calibri" pitchFamily="34" charset="-122"/>
                <a:cs typeface="Calibri" pitchFamily="34" charset="-120"/>
              </a:rPr>
              <a:t>Practical guidance for real systems</a:t>
            </a:r>
            <a:endParaRPr lang="en-US" sz="1100" dirty="0"/>
          </a:p>
        </p:txBody>
      </p:sp>
      <p:sp>
        <p:nvSpPr>
          <p:cNvPr id="36" name="Text 26"/>
          <p:cNvSpPr/>
          <p:nvPr/>
        </p:nvSpPr>
        <p:spPr>
          <a:xfrm>
            <a:off x="457200" y="6510528"/>
            <a:ext cx="7315200" cy="274320"/>
          </a:xfrm>
          <a:prstGeom prst="rect">
            <a:avLst/>
          </a:prstGeom>
          <a:noFill/>
          <a:ln/>
        </p:spPr>
        <p:txBody>
          <a:bodyPr wrap="square" rtlCol="0" anchor="ctr"/>
          <a:lstStyle/>
          <a:p>
            <a:pPr algn="l" indent="0" marL="0">
              <a:buNone/>
            </a:pPr>
            <a:r>
              <a:rPr lang="en-US" sz="900" dirty="0">
                <a:solidFill>
                  <a:srgbClr val="6A6E82"/>
                </a:solidFill>
                <a:latin typeface="Calibri" pitchFamily="34" charset="0"/>
                <a:ea typeface="Calibri" pitchFamily="34" charset="-122"/>
                <a:cs typeface="Calibri" pitchFamily="34" charset="-120"/>
              </a:rPr>
              <a:t>Perspective Distortion in Real-World Images</a:t>
            </a:r>
            <a:endParaRPr lang="en-US" sz="900" dirty="0"/>
          </a:p>
        </p:txBody>
      </p:sp>
      <p:sp>
        <p:nvSpPr>
          <p:cNvPr id="37" name="Text 27"/>
          <p:cNvSpPr/>
          <p:nvPr/>
        </p:nvSpPr>
        <p:spPr>
          <a:xfrm>
            <a:off x="11338560" y="6510528"/>
            <a:ext cx="457200" cy="274320"/>
          </a:xfrm>
          <a:prstGeom prst="rect">
            <a:avLst/>
          </a:prstGeom>
          <a:noFill/>
          <a:ln/>
        </p:spPr>
        <p:txBody>
          <a:bodyPr wrap="square" rtlCol="0" anchor="ctr"/>
          <a:lstStyle/>
          <a:p>
            <a:pPr algn="r" indent="0" marL="0">
              <a:buNone/>
            </a:pPr>
            <a:r>
              <a:rPr lang="en-US" sz="900" dirty="0">
                <a:solidFill>
                  <a:srgbClr val="6A6E8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515600" cy="548640"/>
          </a:xfrm>
          <a:prstGeom prst="rect">
            <a:avLst/>
          </a:prstGeom>
          <a:noFill/>
          <a:ln/>
        </p:spPr>
        <p:txBody>
          <a:bodyPr wrap="square" rtlCol="0" anchor="ctr"/>
          <a:lstStyle/>
          <a:p>
            <a:pPr indent="0" marL="0">
              <a:buNone/>
            </a:pPr>
            <a:r>
              <a:rPr lang="en-US" sz="2800" b="1" dirty="0">
                <a:solidFill>
                  <a:srgbClr val="1F2333"/>
                </a:solidFill>
                <a:latin typeface="Cambria" pitchFamily="34" charset="0"/>
                <a:ea typeface="Cambria" pitchFamily="34" charset="-122"/>
                <a:cs typeface="Cambria" pitchFamily="34" charset="-120"/>
              </a:rPr>
              <a:t>What Is Perspective Distortion?</a:t>
            </a:r>
            <a:endParaRPr lang="en-US" sz="2800" dirty="0"/>
          </a:p>
        </p:txBody>
      </p:sp>
      <p:sp>
        <p:nvSpPr>
          <p:cNvPr id="3" name="Shape 1"/>
          <p:cNvSpPr/>
          <p:nvPr/>
        </p:nvSpPr>
        <p:spPr>
          <a:xfrm>
            <a:off x="640080" y="1280160"/>
            <a:ext cx="5486400" cy="4892040"/>
          </a:xfrm>
          <a:prstGeom prst="rect">
            <a:avLst>
              <a:gd name="adj" fmla="val 1495"/>
            </a:avLst>
          </a:prstGeom>
          <a:solidFill>
            <a:srgbClr val="F3F2F9"/>
          </a:solidFill>
          <a:ln/>
        </p:spPr>
      </p:sp>
      <p:sp>
        <p:nvSpPr>
          <p:cNvPr id="4" name="Text 2"/>
          <p:cNvSpPr/>
          <p:nvPr/>
        </p:nvSpPr>
        <p:spPr>
          <a:xfrm>
            <a:off x="914400" y="1508760"/>
            <a:ext cx="4937760" cy="365760"/>
          </a:xfrm>
          <a:prstGeom prst="rect">
            <a:avLst/>
          </a:prstGeom>
          <a:noFill/>
          <a:ln/>
        </p:spPr>
        <p:txBody>
          <a:bodyPr wrap="square" rtlCol="0" anchor="ctr"/>
          <a:lstStyle/>
          <a:p>
            <a:pPr indent="0" marL="0">
              <a:buNone/>
            </a:pPr>
            <a:r>
              <a:rPr lang="en-US" sz="1500" b="1" dirty="0">
                <a:solidFill>
                  <a:srgbClr val="2E2A5C"/>
                </a:solidFill>
                <a:latin typeface="Calibri" pitchFamily="34" charset="0"/>
                <a:ea typeface="Calibri" pitchFamily="34" charset="-122"/>
                <a:cs typeface="Calibri" pitchFamily="34" charset="-120"/>
              </a:rPr>
              <a:t>The Problem Statement</a:t>
            </a:r>
            <a:endParaRPr lang="en-US" sz="1500" dirty="0"/>
          </a:p>
        </p:txBody>
      </p:sp>
      <p:sp>
        <p:nvSpPr>
          <p:cNvPr id="5" name="Text 3"/>
          <p:cNvSpPr/>
          <p:nvPr/>
        </p:nvSpPr>
        <p:spPr>
          <a:xfrm>
            <a:off x="914400" y="1965960"/>
            <a:ext cx="4937760" cy="1371600"/>
          </a:xfrm>
          <a:prstGeom prst="rect">
            <a:avLst/>
          </a:prstGeom>
          <a:noFill/>
          <a:ln/>
        </p:spPr>
        <p:txBody>
          <a:bodyPr wrap="square" rtlCol="0" anchor="ctr"/>
          <a:lstStyle/>
          <a:p>
            <a:pPr indent="0" marL="0">
              <a:lnSpc>
                <a:spcPts val="2000"/>
              </a:lnSpc>
              <a:buNone/>
            </a:pPr>
            <a:r>
              <a:rPr lang="en-US" sz="1300" dirty="0">
                <a:solidFill>
                  <a:srgbClr val="1F2333"/>
                </a:solidFill>
                <a:latin typeface="Calibri" pitchFamily="34" charset="0"/>
                <a:ea typeface="Calibri" pitchFamily="34" charset="-122"/>
                <a:cs typeface="Calibri" pitchFamily="34" charset="-120"/>
              </a:rPr>
              <a:t>A camera projects a 3D scene onto a flat 2D sensor. That projection is a </a:t>
            </a:r>
            <a:pPr indent="0" marL="0">
              <a:lnSpc>
                <a:spcPts val="2000"/>
              </a:lnSpc>
              <a:buNone/>
            </a:pPr>
            <a:r>
              <a:rPr lang="en-US" sz="1300" b="1" dirty="0">
                <a:solidFill>
                  <a:srgbClr val="2E2A5C"/>
                </a:solidFill>
                <a:latin typeface="Calibri" pitchFamily="34" charset="0"/>
                <a:ea typeface="Calibri" pitchFamily="34" charset="-122"/>
                <a:cs typeface="Calibri" pitchFamily="34" charset="-120"/>
              </a:rPr>
              <a:t>geometric approximation</a:t>
            </a:r>
            <a:pPr indent="0" marL="0">
              <a:lnSpc>
                <a:spcPts val="2000"/>
              </a:lnSpc>
              <a:buNone/>
            </a:pPr>
            <a:r>
              <a:rPr lang="en-US" sz="1300" dirty="0">
                <a:solidFill>
                  <a:srgbClr val="1F2333"/>
                </a:solidFill>
                <a:latin typeface="Calibri" pitchFamily="34" charset="0"/>
                <a:ea typeface="Calibri" pitchFamily="34" charset="-122"/>
                <a:cs typeface="Calibri" pitchFamily="34" charset="-120"/>
              </a:rPr>
              <a:t>, not a perfect copy — angles, distances, and straight lines can all appear to change shape once captured.</a:t>
            </a:r>
            <a:endParaRPr lang="en-US" sz="1300" dirty="0"/>
          </a:p>
        </p:txBody>
      </p:sp>
      <p:sp>
        <p:nvSpPr>
          <p:cNvPr id="6" name="Text 4"/>
          <p:cNvSpPr/>
          <p:nvPr/>
        </p:nvSpPr>
        <p:spPr>
          <a:xfrm>
            <a:off x="914400" y="3429000"/>
            <a:ext cx="4937760" cy="1280160"/>
          </a:xfrm>
          <a:prstGeom prst="rect">
            <a:avLst/>
          </a:prstGeom>
          <a:noFill/>
          <a:ln/>
        </p:spPr>
        <p:txBody>
          <a:bodyPr wrap="square" rtlCol="0" anchor="ctr"/>
          <a:lstStyle/>
          <a:p>
            <a:pPr indent="0" marL="0">
              <a:lnSpc>
                <a:spcPts val="2000"/>
              </a:lnSpc>
              <a:buNone/>
            </a:pPr>
            <a:r>
              <a:rPr lang="en-US" sz="1300" b="1" dirty="0">
                <a:solidFill>
                  <a:srgbClr val="2E2A5C"/>
                </a:solidFill>
                <a:latin typeface="Calibri" pitchFamily="34" charset="0"/>
                <a:ea typeface="Calibri" pitchFamily="34" charset="-122"/>
                <a:cs typeface="Calibri" pitchFamily="34" charset="-120"/>
              </a:rPr>
              <a:t>Perspective distortion</a:t>
            </a:r>
            <a:pPr indent="0" marL="0">
              <a:lnSpc>
                <a:spcPts val="2000"/>
              </a:lnSpc>
              <a:buNone/>
            </a:pPr>
            <a:r>
              <a:rPr lang="en-US" sz="1300" dirty="0">
                <a:solidFill>
                  <a:srgbClr val="1F2333"/>
                </a:solidFill>
                <a:latin typeface="Calibri" pitchFamily="34" charset="0"/>
                <a:ea typeface="Calibri" pitchFamily="34" charset="-122"/>
                <a:cs typeface="Calibri" pitchFamily="34" charset="-120"/>
              </a:rPr>
              <a:t> refers to any mismatch between real-world geometry and how that geometry appears in the captured image — caused by viewpoint, lens optics, or both.</a:t>
            </a:r>
            <a:endParaRPr lang="en-US" sz="1300" dirty="0"/>
          </a:p>
        </p:txBody>
      </p:sp>
      <p:sp>
        <p:nvSpPr>
          <p:cNvPr id="7" name="Text 5"/>
          <p:cNvSpPr/>
          <p:nvPr/>
        </p:nvSpPr>
        <p:spPr>
          <a:xfrm>
            <a:off x="914400" y="4892040"/>
            <a:ext cx="4937760" cy="1097280"/>
          </a:xfrm>
          <a:prstGeom prst="rect">
            <a:avLst/>
          </a:prstGeom>
          <a:noFill/>
          <a:ln/>
        </p:spPr>
        <p:txBody>
          <a:bodyPr wrap="square" rtlCol="0" anchor="ctr"/>
          <a:lstStyle/>
          <a:p>
            <a:pPr indent="0" marL="0">
              <a:lnSpc>
                <a:spcPts val="1700"/>
              </a:lnSpc>
              <a:buNone/>
            </a:pPr>
            <a:r>
              <a:rPr lang="en-US" sz="1200" i="1" dirty="0">
                <a:solidFill>
                  <a:srgbClr val="5B57A3"/>
                </a:solidFill>
                <a:latin typeface="Calibri" pitchFamily="34" charset="0"/>
                <a:ea typeface="Calibri" pitchFamily="34" charset="-122"/>
                <a:cs typeface="Calibri" pitchFamily="34" charset="-120"/>
              </a:rPr>
              <a:t>It matters for computer vision because downstream tasks — measurement, 3D reconstruction, object detection — all assume some model of how the scene maps to pixels.</a:t>
            </a:r>
            <a:endParaRPr lang="en-US" sz="1200" dirty="0"/>
          </a:p>
        </p:txBody>
      </p:sp>
      <p:sp>
        <p:nvSpPr>
          <p:cNvPr id="8" name="Text 6"/>
          <p:cNvSpPr/>
          <p:nvPr/>
        </p:nvSpPr>
        <p:spPr>
          <a:xfrm>
            <a:off x="6537960" y="1280160"/>
            <a:ext cx="4937760" cy="365760"/>
          </a:xfrm>
          <a:prstGeom prst="rect">
            <a:avLst/>
          </a:prstGeom>
          <a:noFill/>
          <a:ln/>
        </p:spPr>
        <p:txBody>
          <a:bodyPr wrap="square" rtlCol="0" anchor="ctr"/>
          <a:lstStyle/>
          <a:p>
            <a:pPr algn="ctr" indent="0" marL="0">
              <a:buNone/>
            </a:pPr>
            <a:r>
              <a:rPr lang="en-US" sz="1300" b="1" dirty="0">
                <a:solidFill>
                  <a:srgbClr val="6A6E82"/>
                </a:solidFill>
                <a:latin typeface="Calibri" pitchFamily="34" charset="0"/>
                <a:ea typeface="Calibri" pitchFamily="34" charset="-122"/>
                <a:cs typeface="Calibri" pitchFamily="34" charset="-120"/>
              </a:rPr>
              <a:t>3D Scene → 2D Image</a:t>
            </a:r>
            <a:endParaRPr lang="en-US" sz="1300" dirty="0"/>
          </a:p>
        </p:txBody>
      </p:sp>
      <p:sp>
        <p:nvSpPr>
          <p:cNvPr id="9" name="Shape 7"/>
          <p:cNvSpPr/>
          <p:nvPr/>
        </p:nvSpPr>
        <p:spPr>
          <a:xfrm>
            <a:off x="6812280" y="3200400"/>
            <a:ext cx="914400" cy="1280160"/>
          </a:xfrm>
          <a:prstGeom prst="rect">
            <a:avLst/>
          </a:prstGeom>
          <a:solidFill>
            <a:srgbClr val="5B57A3"/>
          </a:solidFill>
          <a:ln/>
        </p:spPr>
      </p:sp>
      <p:sp>
        <p:nvSpPr>
          <p:cNvPr id="10" name="Text 8"/>
          <p:cNvSpPr/>
          <p:nvPr/>
        </p:nvSpPr>
        <p:spPr>
          <a:xfrm>
            <a:off x="6629400" y="4572000"/>
            <a:ext cx="1280160" cy="274320"/>
          </a:xfrm>
          <a:prstGeom prst="rect">
            <a:avLst/>
          </a:prstGeom>
          <a:noFill/>
          <a:ln/>
        </p:spPr>
        <p:txBody>
          <a:bodyPr wrap="square" rtlCol="0" anchor="ctr"/>
          <a:lstStyle/>
          <a:p>
            <a:pPr algn="ctr" indent="0" marL="0">
              <a:buNone/>
            </a:pPr>
            <a:r>
              <a:rPr lang="en-US" sz="1000" dirty="0">
                <a:solidFill>
                  <a:srgbClr val="6A6E82"/>
                </a:solidFill>
                <a:latin typeface="Calibri" pitchFamily="34" charset="0"/>
                <a:ea typeface="Calibri" pitchFamily="34" charset="-122"/>
                <a:cs typeface="Calibri" pitchFamily="34" charset="-120"/>
              </a:rPr>
              <a:t>3D object</a:t>
            </a:r>
            <a:endParaRPr lang="en-US" sz="1000" dirty="0"/>
          </a:p>
        </p:txBody>
      </p:sp>
      <p:sp>
        <p:nvSpPr>
          <p:cNvPr id="11" name="Shape 9"/>
          <p:cNvSpPr/>
          <p:nvPr/>
        </p:nvSpPr>
        <p:spPr>
          <a:xfrm>
            <a:off x="7726680" y="3200400"/>
            <a:ext cx="1417320" cy="640080"/>
          </a:xfrm>
          <a:prstGeom prst="line">
            <a:avLst/>
          </a:prstGeom>
          <a:noFill/>
          <a:ln w="19050">
            <a:solidFill>
              <a:srgbClr val="F4A259"/>
            </a:solidFill>
            <a:prstDash val="dash"/>
          </a:ln>
        </p:spPr>
      </p:sp>
      <p:sp>
        <p:nvSpPr>
          <p:cNvPr id="12" name="Shape 10"/>
          <p:cNvSpPr/>
          <p:nvPr/>
        </p:nvSpPr>
        <p:spPr>
          <a:xfrm flipV="1">
            <a:off x="7726680" y="3840480"/>
            <a:ext cx="1417320" cy="640080"/>
          </a:xfrm>
          <a:prstGeom prst="line">
            <a:avLst/>
          </a:prstGeom>
          <a:noFill/>
          <a:ln w="19050">
            <a:solidFill>
              <a:srgbClr val="F4A259"/>
            </a:solidFill>
            <a:prstDash val="dash"/>
          </a:ln>
        </p:spPr>
      </p:sp>
      <p:sp>
        <p:nvSpPr>
          <p:cNvPr id="13" name="Shape 11"/>
          <p:cNvSpPr/>
          <p:nvPr/>
        </p:nvSpPr>
        <p:spPr>
          <a:xfrm>
            <a:off x="9034272" y="3730752"/>
            <a:ext cx="219456" cy="219456"/>
          </a:xfrm>
          <a:prstGeom prst="ellipse">
            <a:avLst/>
          </a:prstGeom>
          <a:solidFill>
            <a:srgbClr val="1A1740"/>
          </a:solidFill>
          <a:ln/>
        </p:spPr>
      </p:sp>
      <p:sp>
        <p:nvSpPr>
          <p:cNvPr id="14" name="Shape 12"/>
          <p:cNvSpPr/>
          <p:nvPr/>
        </p:nvSpPr>
        <p:spPr>
          <a:xfrm>
            <a:off x="9601200" y="3520440"/>
            <a:ext cx="0" cy="822960"/>
          </a:xfrm>
          <a:prstGeom prst="line">
            <a:avLst/>
          </a:prstGeom>
          <a:noFill/>
          <a:ln w="50800">
            <a:solidFill>
              <a:srgbClr val="2E2A5C"/>
            </a:solidFill>
            <a:prstDash val="solid"/>
          </a:ln>
        </p:spPr>
      </p:sp>
      <p:sp>
        <p:nvSpPr>
          <p:cNvPr id="15" name="Text 13"/>
          <p:cNvSpPr/>
          <p:nvPr/>
        </p:nvSpPr>
        <p:spPr>
          <a:xfrm>
            <a:off x="9189720" y="4434840"/>
            <a:ext cx="1280160" cy="274320"/>
          </a:xfrm>
          <a:prstGeom prst="rect">
            <a:avLst/>
          </a:prstGeom>
          <a:noFill/>
          <a:ln/>
        </p:spPr>
        <p:txBody>
          <a:bodyPr wrap="square" rtlCol="0" anchor="ctr"/>
          <a:lstStyle/>
          <a:p>
            <a:pPr algn="ctr" indent="0" marL="0">
              <a:buNone/>
            </a:pPr>
            <a:r>
              <a:rPr lang="en-US" sz="1000" dirty="0">
                <a:solidFill>
                  <a:srgbClr val="6A6E82"/>
                </a:solidFill>
                <a:latin typeface="Calibri" pitchFamily="34" charset="0"/>
                <a:ea typeface="Calibri" pitchFamily="34" charset="-122"/>
                <a:cs typeface="Calibri" pitchFamily="34" charset="-120"/>
              </a:rPr>
              <a:t>image plane</a:t>
            </a:r>
            <a:endParaRPr lang="en-US" sz="1000" dirty="0"/>
          </a:p>
        </p:txBody>
      </p:sp>
      <p:sp>
        <p:nvSpPr>
          <p:cNvPr id="16" name="Text 14"/>
          <p:cNvSpPr/>
          <p:nvPr/>
        </p:nvSpPr>
        <p:spPr>
          <a:xfrm>
            <a:off x="8823960" y="3520440"/>
            <a:ext cx="822960" cy="274320"/>
          </a:xfrm>
          <a:prstGeom prst="rect">
            <a:avLst/>
          </a:prstGeom>
          <a:noFill/>
          <a:ln/>
        </p:spPr>
        <p:txBody>
          <a:bodyPr wrap="square" rtlCol="0" anchor="ctr"/>
          <a:lstStyle/>
          <a:p>
            <a:pPr algn="ctr" indent="0" marL="0">
              <a:buNone/>
            </a:pPr>
            <a:r>
              <a:rPr lang="en-US" sz="1000" dirty="0">
                <a:solidFill>
                  <a:srgbClr val="6A6E82"/>
                </a:solidFill>
                <a:latin typeface="Calibri" pitchFamily="34" charset="0"/>
                <a:ea typeface="Calibri" pitchFamily="34" charset="-122"/>
                <a:cs typeface="Calibri" pitchFamily="34" charset="-120"/>
              </a:rPr>
              <a:t>lens</a:t>
            </a:r>
            <a:endParaRPr lang="en-US" sz="1000" dirty="0"/>
          </a:p>
        </p:txBody>
      </p:sp>
      <p:sp>
        <p:nvSpPr>
          <p:cNvPr id="17" name="Shape 15"/>
          <p:cNvSpPr/>
          <p:nvPr/>
        </p:nvSpPr>
        <p:spPr>
          <a:xfrm>
            <a:off x="6537960" y="4892040"/>
            <a:ext cx="4937760" cy="1280160"/>
          </a:xfrm>
          <a:prstGeom prst="roundRect">
            <a:avLst>
              <a:gd name="adj" fmla="val 6429"/>
            </a:avLst>
          </a:prstGeom>
          <a:solidFill>
            <a:srgbClr val="1A1740"/>
          </a:solidFill>
          <a:ln/>
        </p:spPr>
      </p:sp>
      <p:sp>
        <p:nvSpPr>
          <p:cNvPr id="18" name="Text 16"/>
          <p:cNvSpPr/>
          <p:nvPr/>
        </p:nvSpPr>
        <p:spPr>
          <a:xfrm>
            <a:off x="6812280" y="4892040"/>
            <a:ext cx="4389120" cy="1280160"/>
          </a:xfrm>
          <a:prstGeom prst="rect">
            <a:avLst/>
          </a:prstGeom>
          <a:noFill/>
          <a:ln/>
        </p:spPr>
        <p:txBody>
          <a:bodyPr wrap="square" rtlCol="0" anchor="ctr"/>
          <a:lstStyle/>
          <a:p>
            <a:pPr indent="0" marL="0">
              <a:lnSpc>
                <a:spcPts val="1600"/>
              </a:lnSpc>
              <a:buNone/>
            </a:pPr>
            <a:r>
              <a:rPr lang="en-US" sz="1150" b="1" dirty="0">
                <a:solidFill>
                  <a:srgbClr val="F4A259"/>
                </a:solidFill>
                <a:latin typeface="Calibri" pitchFamily="34" charset="0"/>
                <a:ea typeface="Calibri" pitchFamily="34" charset="-122"/>
                <a:cs typeface="Calibri" pitchFamily="34" charset="-120"/>
              </a:rPr>
              <a:t>Key idea: </a:t>
            </a:r>
            <a:pPr indent="0" marL="0">
              <a:lnSpc>
                <a:spcPts val="1600"/>
              </a:lnSpc>
              <a:buNone/>
            </a:pPr>
            <a:r>
              <a:rPr lang="en-US" sz="1150" dirty="0">
                <a:solidFill>
                  <a:srgbClr val="E3E1F4"/>
                </a:solidFill>
                <a:latin typeface="Calibri" pitchFamily="34" charset="0"/>
                <a:ea typeface="Calibri" pitchFamily="34" charset="-122"/>
                <a:cs typeface="Calibri" pitchFamily="34" charset="-120"/>
              </a:rPr>
              <a:t>the further a ray travels off-axis before hitting the image plane, the more its apparent position departs from an idealized flat projection.</a:t>
            </a:r>
            <a:endParaRPr lang="en-US" sz="1150" dirty="0"/>
          </a:p>
        </p:txBody>
      </p:sp>
      <p:sp>
        <p:nvSpPr>
          <p:cNvPr id="19" name="Text 17"/>
          <p:cNvSpPr/>
          <p:nvPr/>
        </p:nvSpPr>
        <p:spPr>
          <a:xfrm>
            <a:off x="457200" y="6510528"/>
            <a:ext cx="7315200" cy="274320"/>
          </a:xfrm>
          <a:prstGeom prst="rect">
            <a:avLst/>
          </a:prstGeom>
          <a:noFill/>
          <a:ln/>
        </p:spPr>
        <p:txBody>
          <a:bodyPr wrap="square" rtlCol="0" anchor="ctr"/>
          <a:lstStyle/>
          <a:p>
            <a:pPr algn="l" indent="0" marL="0">
              <a:buNone/>
            </a:pPr>
            <a:r>
              <a:rPr lang="en-US" sz="900" dirty="0">
                <a:solidFill>
                  <a:srgbClr val="6A6E82"/>
                </a:solidFill>
                <a:latin typeface="Calibri" pitchFamily="34" charset="0"/>
                <a:ea typeface="Calibri" pitchFamily="34" charset="-122"/>
                <a:cs typeface="Calibri" pitchFamily="34" charset="-120"/>
              </a:rPr>
              <a:t>Perspective Distortion in Real-World Images</a:t>
            </a:r>
            <a:endParaRPr lang="en-US" sz="900" dirty="0"/>
          </a:p>
        </p:txBody>
      </p:sp>
      <p:sp>
        <p:nvSpPr>
          <p:cNvPr id="20" name="Text 18"/>
          <p:cNvSpPr/>
          <p:nvPr/>
        </p:nvSpPr>
        <p:spPr>
          <a:xfrm>
            <a:off x="11338560" y="6510528"/>
            <a:ext cx="457200" cy="274320"/>
          </a:xfrm>
          <a:prstGeom prst="rect">
            <a:avLst/>
          </a:prstGeom>
          <a:noFill/>
          <a:ln/>
        </p:spPr>
        <p:txBody>
          <a:bodyPr wrap="square" rtlCol="0" anchor="ctr"/>
          <a:lstStyle/>
          <a:p>
            <a:pPr algn="r" indent="0" marL="0">
              <a:buNone/>
            </a:pPr>
            <a:r>
              <a:rPr lang="en-US" sz="900" dirty="0">
                <a:solidFill>
                  <a:srgbClr val="6A6E8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740"/>
        </a:solidFill>
      </p:bgPr>
    </p:bg>
    <p:spTree>
      <p:nvGrpSpPr>
        <p:cNvPr id="1" name=""/>
        <p:cNvGrpSpPr/>
        <p:nvPr/>
      </p:nvGrpSpPr>
      <p:grpSpPr>
        <a:xfrm>
          <a:off x="0" y="0"/>
          <a:ext cx="0" cy="0"/>
          <a:chOff x="0" y="0"/>
          <a:chExt cx="0" cy="0"/>
        </a:xfrm>
      </p:grpSpPr>
      <p:sp>
        <p:nvSpPr>
          <p:cNvPr id="2" name="Text 0"/>
          <p:cNvSpPr/>
          <p:nvPr/>
        </p:nvSpPr>
        <p:spPr>
          <a:xfrm>
            <a:off x="640080" y="457200"/>
            <a:ext cx="10881360" cy="54864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A Taxonomy of Distortion Types</a:t>
            </a:r>
            <a:endParaRPr lang="en-US" sz="2700" dirty="0"/>
          </a:p>
        </p:txBody>
      </p:sp>
      <p:sp>
        <p:nvSpPr>
          <p:cNvPr id="3" name="Text 1"/>
          <p:cNvSpPr/>
          <p:nvPr/>
        </p:nvSpPr>
        <p:spPr>
          <a:xfrm>
            <a:off x="640080" y="1005840"/>
            <a:ext cx="10058400" cy="365760"/>
          </a:xfrm>
          <a:prstGeom prst="rect">
            <a:avLst/>
          </a:prstGeom>
          <a:noFill/>
          <a:ln/>
        </p:spPr>
        <p:txBody>
          <a:bodyPr wrap="square" rtlCol="0" anchor="ctr"/>
          <a:lstStyle/>
          <a:p>
            <a:pPr indent="0" marL="0">
              <a:buNone/>
            </a:pPr>
            <a:r>
              <a:rPr lang="en-US" sz="1300" dirty="0">
                <a:solidFill>
                  <a:srgbClr val="B3AEDC"/>
                </a:solidFill>
                <a:latin typeface="Calibri" pitchFamily="34" charset="0"/>
                <a:ea typeface="Calibri" pitchFamily="34" charset="-122"/>
                <a:cs typeface="Calibri" pitchFamily="34" charset="-120"/>
              </a:rPr>
              <a:t>Two families of causes, four recognizable visual signatures</a:t>
            </a:r>
            <a:endParaRPr lang="en-US" sz="1300" dirty="0"/>
          </a:p>
        </p:txBody>
      </p:sp>
      <p:sp>
        <p:nvSpPr>
          <p:cNvPr id="4" name="Shape 2"/>
          <p:cNvSpPr/>
          <p:nvPr/>
        </p:nvSpPr>
        <p:spPr>
          <a:xfrm>
            <a:off x="640080" y="1691640"/>
            <a:ext cx="2606040" cy="4114800"/>
          </a:xfrm>
          <a:prstGeom prst="roundRect">
            <a:avLst>
              <a:gd name="adj" fmla="val 3158"/>
            </a:avLst>
          </a:prstGeom>
          <a:solidFill>
            <a:srgbClr val="2A2560"/>
          </a:solidFill>
          <a:ln/>
        </p:spPr>
      </p:sp>
      <p:sp>
        <p:nvSpPr>
          <p:cNvPr id="5" name="Shape 3"/>
          <p:cNvSpPr/>
          <p:nvPr/>
        </p:nvSpPr>
        <p:spPr>
          <a:xfrm>
            <a:off x="1600200" y="1965960"/>
            <a:ext cx="685800" cy="685800"/>
          </a:xfrm>
          <a:prstGeom prst="ellipse">
            <a:avLst/>
          </a:prstGeom>
          <a:solidFill>
            <a:srgbClr val="F4A259"/>
          </a:solidFill>
          <a:ln/>
        </p:spPr>
      </p:sp>
      <p:pic>
        <p:nvPicPr>
          <p:cNvPr id="6" name="Image 0" descr="/home/claude/ppt3/icons/home.png">    </p:cNvPr>
          <p:cNvPicPr>
            <a:picLocks noChangeAspect="1"/>
          </p:cNvPicPr>
          <p:nvPr/>
        </p:nvPicPr>
        <p:blipFill>
          <a:blip r:embed="rId1"/>
          <a:stretch>
            <a:fillRect/>
          </a:stretch>
        </p:blipFill>
        <p:spPr>
          <a:xfrm>
            <a:off x="1764792" y="2130552"/>
            <a:ext cx="356616" cy="356616"/>
          </a:xfrm>
          <a:prstGeom prst="rect">
            <a:avLst/>
          </a:prstGeom>
        </p:spPr>
      </p:pic>
      <p:sp>
        <p:nvSpPr>
          <p:cNvPr id="7" name="Text 4"/>
          <p:cNvSpPr/>
          <p:nvPr/>
        </p:nvSpPr>
        <p:spPr>
          <a:xfrm>
            <a:off x="777240" y="2834640"/>
            <a:ext cx="233172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Keystone Effect</a:t>
            </a:r>
            <a:endParaRPr lang="en-US" sz="1400" dirty="0"/>
          </a:p>
        </p:txBody>
      </p:sp>
      <p:sp>
        <p:nvSpPr>
          <p:cNvPr id="8" name="Text 5"/>
          <p:cNvSpPr/>
          <p:nvPr/>
        </p:nvSpPr>
        <p:spPr>
          <a:xfrm>
            <a:off x="777240" y="3182112"/>
            <a:ext cx="2331720" cy="274320"/>
          </a:xfrm>
          <a:prstGeom prst="rect">
            <a:avLst/>
          </a:prstGeom>
          <a:noFill/>
          <a:ln/>
        </p:spPr>
        <p:txBody>
          <a:bodyPr wrap="square" rtlCol="0" anchor="ctr"/>
          <a:lstStyle/>
          <a:p>
            <a:pPr algn="ctr" indent="0" marL="0">
              <a:buNone/>
            </a:pPr>
            <a:r>
              <a:rPr lang="en-US" sz="1000" i="1" dirty="0">
                <a:solidFill>
                  <a:srgbClr val="F4A259"/>
                </a:solidFill>
                <a:latin typeface="Calibri" pitchFamily="34" charset="0"/>
                <a:ea typeface="Calibri" pitchFamily="34" charset="-122"/>
                <a:cs typeface="Calibri" pitchFamily="34" charset="-120"/>
              </a:rPr>
              <a:t>Viewpoint-driven</a:t>
            </a:r>
            <a:endParaRPr lang="en-US" sz="1000" dirty="0"/>
          </a:p>
        </p:txBody>
      </p:sp>
      <p:sp>
        <p:nvSpPr>
          <p:cNvPr id="9" name="Text 6"/>
          <p:cNvSpPr/>
          <p:nvPr/>
        </p:nvSpPr>
        <p:spPr>
          <a:xfrm>
            <a:off x="841248" y="3566160"/>
            <a:ext cx="2203704" cy="2103120"/>
          </a:xfrm>
          <a:prstGeom prst="rect">
            <a:avLst/>
          </a:prstGeom>
          <a:noFill/>
          <a:ln/>
        </p:spPr>
        <p:txBody>
          <a:bodyPr wrap="square" rtlCol="0" anchor="ctr"/>
          <a:lstStyle/>
          <a:p>
            <a:pPr indent="0" marL="0">
              <a:lnSpc>
                <a:spcPts val="1450"/>
              </a:lnSpc>
              <a:buNone/>
            </a:pPr>
            <a:r>
              <a:rPr lang="en-US" sz="1050" dirty="0">
                <a:solidFill>
                  <a:srgbClr val="D8D5EE"/>
                </a:solidFill>
                <a:latin typeface="Calibri" pitchFamily="34" charset="0"/>
                <a:ea typeface="Calibri" pitchFamily="34" charset="-122"/>
                <a:cs typeface="Calibri" pitchFamily="34" charset="-120"/>
              </a:rPr>
              <a:t>Vertical or horizontal lines converge when the camera is angled relative to a flat plane (e.g., tilted up at a building).</a:t>
            </a:r>
            <a:endParaRPr lang="en-US" sz="1050" dirty="0"/>
          </a:p>
        </p:txBody>
      </p:sp>
      <p:sp>
        <p:nvSpPr>
          <p:cNvPr id="10" name="Shape 7"/>
          <p:cNvSpPr/>
          <p:nvPr/>
        </p:nvSpPr>
        <p:spPr>
          <a:xfrm>
            <a:off x="3474720" y="1691640"/>
            <a:ext cx="2606040" cy="4114800"/>
          </a:xfrm>
          <a:prstGeom prst="roundRect">
            <a:avLst>
              <a:gd name="adj" fmla="val 3158"/>
            </a:avLst>
          </a:prstGeom>
          <a:solidFill>
            <a:srgbClr val="2A2560"/>
          </a:solidFill>
          <a:ln/>
        </p:spPr>
      </p:sp>
      <p:sp>
        <p:nvSpPr>
          <p:cNvPr id="11" name="Shape 8"/>
          <p:cNvSpPr/>
          <p:nvPr/>
        </p:nvSpPr>
        <p:spPr>
          <a:xfrm>
            <a:off x="4434840" y="1965960"/>
            <a:ext cx="685800" cy="685800"/>
          </a:xfrm>
          <a:prstGeom prst="ellipse">
            <a:avLst/>
          </a:prstGeom>
          <a:solidFill>
            <a:srgbClr val="F4A259"/>
          </a:solidFill>
          <a:ln/>
        </p:spPr>
      </p:sp>
      <p:pic>
        <p:nvPicPr>
          <p:cNvPr id="12" name="Image 1" descr="/home/claude/ppt3/icons/aperture.png">    </p:cNvPr>
          <p:cNvPicPr>
            <a:picLocks noChangeAspect="1"/>
          </p:cNvPicPr>
          <p:nvPr/>
        </p:nvPicPr>
        <p:blipFill>
          <a:blip r:embed="rId2"/>
          <a:stretch>
            <a:fillRect/>
          </a:stretch>
        </p:blipFill>
        <p:spPr>
          <a:xfrm>
            <a:off x="4599432" y="2130552"/>
            <a:ext cx="356616" cy="356616"/>
          </a:xfrm>
          <a:prstGeom prst="rect">
            <a:avLst/>
          </a:prstGeom>
        </p:spPr>
      </p:pic>
      <p:sp>
        <p:nvSpPr>
          <p:cNvPr id="13" name="Text 9"/>
          <p:cNvSpPr/>
          <p:nvPr/>
        </p:nvSpPr>
        <p:spPr>
          <a:xfrm>
            <a:off x="3611880" y="2834640"/>
            <a:ext cx="233172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Barrel Distortion</a:t>
            </a:r>
            <a:endParaRPr lang="en-US" sz="1400" dirty="0"/>
          </a:p>
        </p:txBody>
      </p:sp>
      <p:sp>
        <p:nvSpPr>
          <p:cNvPr id="14" name="Text 10"/>
          <p:cNvSpPr/>
          <p:nvPr/>
        </p:nvSpPr>
        <p:spPr>
          <a:xfrm>
            <a:off x="3611880" y="3182112"/>
            <a:ext cx="2331720" cy="274320"/>
          </a:xfrm>
          <a:prstGeom prst="rect">
            <a:avLst/>
          </a:prstGeom>
          <a:noFill/>
          <a:ln/>
        </p:spPr>
        <p:txBody>
          <a:bodyPr wrap="square" rtlCol="0" anchor="ctr"/>
          <a:lstStyle/>
          <a:p>
            <a:pPr algn="ctr" indent="0" marL="0">
              <a:buNone/>
            </a:pPr>
            <a:r>
              <a:rPr lang="en-US" sz="1000" i="1" dirty="0">
                <a:solidFill>
                  <a:srgbClr val="F4A259"/>
                </a:solidFill>
                <a:latin typeface="Calibri" pitchFamily="34" charset="0"/>
                <a:ea typeface="Calibri" pitchFamily="34" charset="-122"/>
                <a:cs typeface="Calibri" pitchFamily="34" charset="-120"/>
              </a:rPr>
              <a:t>Lens-driven</a:t>
            </a:r>
            <a:endParaRPr lang="en-US" sz="1000" dirty="0"/>
          </a:p>
        </p:txBody>
      </p:sp>
      <p:sp>
        <p:nvSpPr>
          <p:cNvPr id="15" name="Text 11"/>
          <p:cNvSpPr/>
          <p:nvPr/>
        </p:nvSpPr>
        <p:spPr>
          <a:xfrm>
            <a:off x="3675888" y="3566160"/>
            <a:ext cx="2203704" cy="2103120"/>
          </a:xfrm>
          <a:prstGeom prst="rect">
            <a:avLst/>
          </a:prstGeom>
          <a:noFill/>
          <a:ln/>
        </p:spPr>
        <p:txBody>
          <a:bodyPr wrap="square" rtlCol="0" anchor="ctr"/>
          <a:lstStyle/>
          <a:p>
            <a:pPr indent="0" marL="0">
              <a:lnSpc>
                <a:spcPts val="1450"/>
              </a:lnSpc>
              <a:buNone/>
            </a:pPr>
            <a:r>
              <a:rPr lang="en-US" sz="1050" dirty="0">
                <a:solidFill>
                  <a:srgbClr val="D8D5EE"/>
                </a:solidFill>
                <a:latin typeface="Calibri" pitchFamily="34" charset="0"/>
                <a:ea typeface="Calibri" pitchFamily="34" charset="-122"/>
                <a:cs typeface="Calibri" pitchFamily="34" charset="-120"/>
              </a:rPr>
              <a:t>Straight lines bow outward from the center — common with wide-angle and fisheye lenses.</a:t>
            </a:r>
            <a:endParaRPr lang="en-US" sz="1050" dirty="0"/>
          </a:p>
        </p:txBody>
      </p:sp>
      <p:sp>
        <p:nvSpPr>
          <p:cNvPr id="16" name="Shape 12"/>
          <p:cNvSpPr/>
          <p:nvPr/>
        </p:nvSpPr>
        <p:spPr>
          <a:xfrm>
            <a:off x="6309360" y="1691640"/>
            <a:ext cx="2606040" cy="4114800"/>
          </a:xfrm>
          <a:prstGeom prst="roundRect">
            <a:avLst>
              <a:gd name="adj" fmla="val 3158"/>
            </a:avLst>
          </a:prstGeom>
          <a:solidFill>
            <a:srgbClr val="2A2560"/>
          </a:solidFill>
          <a:ln/>
        </p:spPr>
      </p:sp>
      <p:sp>
        <p:nvSpPr>
          <p:cNvPr id="17" name="Shape 13"/>
          <p:cNvSpPr/>
          <p:nvPr/>
        </p:nvSpPr>
        <p:spPr>
          <a:xfrm>
            <a:off x="7269480" y="1965960"/>
            <a:ext cx="685800" cy="685800"/>
          </a:xfrm>
          <a:prstGeom prst="ellipse">
            <a:avLst/>
          </a:prstGeom>
          <a:solidFill>
            <a:srgbClr val="F4A259"/>
          </a:solidFill>
          <a:ln/>
        </p:spPr>
      </p:sp>
      <p:pic>
        <p:nvPicPr>
          <p:cNvPr id="18" name="Image 2" descr="/home/claude/ppt3/icons/grid.png">    </p:cNvPr>
          <p:cNvPicPr>
            <a:picLocks noChangeAspect="1"/>
          </p:cNvPicPr>
          <p:nvPr/>
        </p:nvPicPr>
        <p:blipFill>
          <a:blip r:embed="rId3"/>
          <a:stretch>
            <a:fillRect/>
          </a:stretch>
        </p:blipFill>
        <p:spPr>
          <a:xfrm>
            <a:off x="7434072" y="2130552"/>
            <a:ext cx="356616" cy="356616"/>
          </a:xfrm>
          <a:prstGeom prst="rect">
            <a:avLst/>
          </a:prstGeom>
        </p:spPr>
      </p:pic>
      <p:sp>
        <p:nvSpPr>
          <p:cNvPr id="19" name="Text 14"/>
          <p:cNvSpPr/>
          <p:nvPr/>
        </p:nvSpPr>
        <p:spPr>
          <a:xfrm>
            <a:off x="6446520" y="2834640"/>
            <a:ext cx="233172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Pincushion Distortion</a:t>
            </a:r>
            <a:endParaRPr lang="en-US" sz="1400" dirty="0"/>
          </a:p>
        </p:txBody>
      </p:sp>
      <p:sp>
        <p:nvSpPr>
          <p:cNvPr id="20" name="Text 15"/>
          <p:cNvSpPr/>
          <p:nvPr/>
        </p:nvSpPr>
        <p:spPr>
          <a:xfrm>
            <a:off x="6446520" y="3182112"/>
            <a:ext cx="2331720" cy="274320"/>
          </a:xfrm>
          <a:prstGeom prst="rect">
            <a:avLst/>
          </a:prstGeom>
          <a:noFill/>
          <a:ln/>
        </p:spPr>
        <p:txBody>
          <a:bodyPr wrap="square" rtlCol="0" anchor="ctr"/>
          <a:lstStyle/>
          <a:p>
            <a:pPr algn="ctr" indent="0" marL="0">
              <a:buNone/>
            </a:pPr>
            <a:r>
              <a:rPr lang="en-US" sz="1000" i="1" dirty="0">
                <a:solidFill>
                  <a:srgbClr val="F4A259"/>
                </a:solidFill>
                <a:latin typeface="Calibri" pitchFamily="34" charset="0"/>
                <a:ea typeface="Calibri" pitchFamily="34" charset="-122"/>
                <a:cs typeface="Calibri" pitchFamily="34" charset="-120"/>
              </a:rPr>
              <a:t>Lens-driven</a:t>
            </a:r>
            <a:endParaRPr lang="en-US" sz="1000" dirty="0"/>
          </a:p>
        </p:txBody>
      </p:sp>
      <p:sp>
        <p:nvSpPr>
          <p:cNvPr id="21" name="Text 16"/>
          <p:cNvSpPr/>
          <p:nvPr/>
        </p:nvSpPr>
        <p:spPr>
          <a:xfrm>
            <a:off x="6510528" y="3566160"/>
            <a:ext cx="2203704" cy="2103120"/>
          </a:xfrm>
          <a:prstGeom prst="rect">
            <a:avLst/>
          </a:prstGeom>
          <a:noFill/>
          <a:ln/>
        </p:spPr>
        <p:txBody>
          <a:bodyPr wrap="square" rtlCol="0" anchor="ctr"/>
          <a:lstStyle/>
          <a:p>
            <a:pPr indent="0" marL="0">
              <a:lnSpc>
                <a:spcPts val="1450"/>
              </a:lnSpc>
              <a:buNone/>
            </a:pPr>
            <a:r>
              <a:rPr lang="en-US" sz="1050" dirty="0">
                <a:solidFill>
                  <a:srgbClr val="D8D5EE"/>
                </a:solidFill>
                <a:latin typeface="Calibri" pitchFamily="34" charset="0"/>
                <a:ea typeface="Calibri" pitchFamily="34" charset="-122"/>
                <a:cs typeface="Calibri" pitchFamily="34" charset="-120"/>
              </a:rPr>
              <a:t>Straight lines bow inward toward the center — common with telephoto and zoom lenses.</a:t>
            </a:r>
            <a:endParaRPr lang="en-US" sz="1050" dirty="0"/>
          </a:p>
        </p:txBody>
      </p:sp>
      <p:sp>
        <p:nvSpPr>
          <p:cNvPr id="22" name="Shape 17"/>
          <p:cNvSpPr/>
          <p:nvPr/>
        </p:nvSpPr>
        <p:spPr>
          <a:xfrm>
            <a:off x="9144000" y="1691640"/>
            <a:ext cx="2606040" cy="4114800"/>
          </a:xfrm>
          <a:prstGeom prst="roundRect">
            <a:avLst>
              <a:gd name="adj" fmla="val 3158"/>
            </a:avLst>
          </a:prstGeom>
          <a:solidFill>
            <a:srgbClr val="2A2560"/>
          </a:solidFill>
          <a:ln/>
        </p:spPr>
      </p:sp>
      <p:sp>
        <p:nvSpPr>
          <p:cNvPr id="23" name="Shape 18"/>
          <p:cNvSpPr/>
          <p:nvPr/>
        </p:nvSpPr>
        <p:spPr>
          <a:xfrm>
            <a:off x="10104120" y="1965960"/>
            <a:ext cx="685800" cy="685800"/>
          </a:xfrm>
          <a:prstGeom prst="ellipse">
            <a:avLst/>
          </a:prstGeom>
          <a:solidFill>
            <a:srgbClr val="F4A259"/>
          </a:solidFill>
          <a:ln/>
        </p:spPr>
      </p:sp>
      <p:pic>
        <p:nvPicPr>
          <p:cNvPr id="24" name="Image 3" descr="/home/claude/ppt3/icons/zoomin.png">    </p:cNvPr>
          <p:cNvPicPr>
            <a:picLocks noChangeAspect="1"/>
          </p:cNvPicPr>
          <p:nvPr/>
        </p:nvPicPr>
        <p:blipFill>
          <a:blip r:embed="rId4"/>
          <a:stretch>
            <a:fillRect/>
          </a:stretch>
        </p:blipFill>
        <p:spPr>
          <a:xfrm>
            <a:off x="10268712" y="2130552"/>
            <a:ext cx="356616" cy="356616"/>
          </a:xfrm>
          <a:prstGeom prst="rect">
            <a:avLst/>
          </a:prstGeom>
        </p:spPr>
      </p:pic>
      <p:sp>
        <p:nvSpPr>
          <p:cNvPr id="25" name="Text 19"/>
          <p:cNvSpPr/>
          <p:nvPr/>
        </p:nvSpPr>
        <p:spPr>
          <a:xfrm>
            <a:off x="9281160" y="2834640"/>
            <a:ext cx="233172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Perspective Compression</a:t>
            </a:r>
            <a:endParaRPr lang="en-US" sz="1400" dirty="0"/>
          </a:p>
        </p:txBody>
      </p:sp>
      <p:sp>
        <p:nvSpPr>
          <p:cNvPr id="26" name="Text 20"/>
          <p:cNvSpPr/>
          <p:nvPr/>
        </p:nvSpPr>
        <p:spPr>
          <a:xfrm>
            <a:off x="9281160" y="3182112"/>
            <a:ext cx="2331720" cy="274320"/>
          </a:xfrm>
          <a:prstGeom prst="rect">
            <a:avLst/>
          </a:prstGeom>
          <a:noFill/>
          <a:ln/>
        </p:spPr>
        <p:txBody>
          <a:bodyPr wrap="square" rtlCol="0" anchor="ctr"/>
          <a:lstStyle/>
          <a:p>
            <a:pPr algn="ctr" indent="0" marL="0">
              <a:buNone/>
            </a:pPr>
            <a:r>
              <a:rPr lang="en-US" sz="1000" i="1" dirty="0">
                <a:solidFill>
                  <a:srgbClr val="F4A259"/>
                </a:solidFill>
                <a:latin typeface="Calibri" pitchFamily="34" charset="0"/>
                <a:ea typeface="Calibri" pitchFamily="34" charset="-122"/>
                <a:cs typeface="Calibri" pitchFamily="34" charset="-120"/>
              </a:rPr>
              <a:t>Viewpoint-driven</a:t>
            </a:r>
            <a:endParaRPr lang="en-US" sz="1000" dirty="0"/>
          </a:p>
        </p:txBody>
      </p:sp>
      <p:sp>
        <p:nvSpPr>
          <p:cNvPr id="27" name="Text 21"/>
          <p:cNvSpPr/>
          <p:nvPr/>
        </p:nvSpPr>
        <p:spPr>
          <a:xfrm>
            <a:off x="9345168" y="3566160"/>
            <a:ext cx="2203704" cy="2103120"/>
          </a:xfrm>
          <a:prstGeom prst="rect">
            <a:avLst/>
          </a:prstGeom>
          <a:noFill/>
          <a:ln/>
        </p:spPr>
        <p:txBody>
          <a:bodyPr wrap="square" rtlCol="0" anchor="ctr"/>
          <a:lstStyle/>
          <a:p>
            <a:pPr indent="0" marL="0">
              <a:lnSpc>
                <a:spcPts val="1450"/>
              </a:lnSpc>
              <a:buNone/>
            </a:pPr>
            <a:r>
              <a:rPr lang="en-US" sz="1050" dirty="0">
                <a:solidFill>
                  <a:srgbClr val="D8D5EE"/>
                </a:solidFill>
                <a:latin typeface="Calibri" pitchFamily="34" charset="0"/>
                <a:ea typeface="Calibri" pitchFamily="34" charset="-122"/>
                <a:cs typeface="Calibri" pitchFamily="34" charset="-120"/>
              </a:rPr>
              <a:t>Objects at different depths appear closer in size than they are, from a distant, zoomed-in viewpoint.</a:t>
            </a:r>
            <a:endParaRPr lang="en-US" sz="1050" dirty="0"/>
          </a:p>
        </p:txBody>
      </p:sp>
      <p:sp>
        <p:nvSpPr>
          <p:cNvPr id="28" name="Text 22"/>
          <p:cNvSpPr/>
          <p:nvPr/>
        </p:nvSpPr>
        <p:spPr>
          <a:xfrm>
            <a:off x="457200" y="6510528"/>
            <a:ext cx="7315200" cy="274320"/>
          </a:xfrm>
          <a:prstGeom prst="rect">
            <a:avLst/>
          </a:prstGeom>
          <a:noFill/>
          <a:ln/>
        </p:spPr>
        <p:txBody>
          <a:bodyPr wrap="square" rtlCol="0" anchor="ctr"/>
          <a:lstStyle/>
          <a:p>
            <a:pPr algn="l" indent="0" marL="0">
              <a:buNone/>
            </a:pPr>
            <a:r>
              <a:rPr lang="en-US" sz="900" dirty="0">
                <a:solidFill>
                  <a:srgbClr val="B3AEDC"/>
                </a:solidFill>
                <a:latin typeface="Calibri" pitchFamily="34" charset="0"/>
                <a:ea typeface="Calibri" pitchFamily="34" charset="-122"/>
                <a:cs typeface="Calibri" pitchFamily="34" charset="-120"/>
              </a:rPr>
              <a:t>Perspective Distortion in Real-World Images</a:t>
            </a:r>
            <a:endParaRPr lang="en-US" sz="900" dirty="0"/>
          </a:p>
        </p:txBody>
      </p:sp>
      <p:sp>
        <p:nvSpPr>
          <p:cNvPr id="29" name="Text 23"/>
          <p:cNvSpPr/>
          <p:nvPr/>
        </p:nvSpPr>
        <p:spPr>
          <a:xfrm>
            <a:off x="11338560" y="6510528"/>
            <a:ext cx="457200" cy="274320"/>
          </a:xfrm>
          <a:prstGeom prst="rect">
            <a:avLst/>
          </a:prstGeom>
          <a:noFill/>
          <a:ln/>
        </p:spPr>
        <p:txBody>
          <a:bodyPr wrap="square" rtlCol="0" anchor="ctr"/>
          <a:lstStyle/>
          <a:p>
            <a:pPr algn="r" indent="0" marL="0">
              <a:buNone/>
            </a:pPr>
            <a:r>
              <a:rPr lang="en-US" sz="900" dirty="0">
                <a:solidFill>
                  <a:srgbClr val="B3AED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5486400" cy="320040"/>
          </a:xfrm>
          <a:prstGeom prst="rect">
            <a:avLst/>
          </a:prstGeom>
          <a:noFill/>
          <a:ln/>
        </p:spPr>
        <p:txBody>
          <a:bodyPr wrap="square" rtlCol="0" anchor="ctr"/>
          <a:lstStyle/>
          <a:p>
            <a:pPr indent="0" marL="0">
              <a:buNone/>
            </a:pPr>
            <a:r>
              <a:rPr lang="en-US" sz="1200" b="1" spc="200" kern="0" dirty="0">
                <a:solidFill>
                  <a:srgbClr val="5B57A3"/>
                </a:solidFill>
                <a:latin typeface="Calibri" pitchFamily="34" charset="0"/>
                <a:ea typeface="Calibri" pitchFamily="34" charset="-122"/>
                <a:cs typeface="Calibri" pitchFamily="34" charset="-120"/>
              </a:rPr>
              <a:t>VISUAL EXAMPLE</a:t>
            </a:r>
            <a:endParaRPr lang="en-US" sz="1200" dirty="0"/>
          </a:p>
        </p:txBody>
      </p:sp>
      <p:sp>
        <p:nvSpPr>
          <p:cNvPr id="3" name="Text 1"/>
          <p:cNvSpPr/>
          <p:nvPr/>
        </p:nvSpPr>
        <p:spPr>
          <a:xfrm>
            <a:off x="640080" y="694944"/>
            <a:ext cx="10515600" cy="502920"/>
          </a:xfrm>
          <a:prstGeom prst="rect">
            <a:avLst/>
          </a:prstGeom>
          <a:noFill/>
          <a:ln/>
        </p:spPr>
        <p:txBody>
          <a:bodyPr wrap="square" rtlCol="0" anchor="ctr"/>
          <a:lstStyle/>
          <a:p>
            <a:pPr indent="0" marL="0">
              <a:buNone/>
            </a:pPr>
            <a:r>
              <a:rPr lang="en-US" sz="2500" b="1" dirty="0">
                <a:solidFill>
                  <a:srgbClr val="1F2333"/>
                </a:solidFill>
                <a:latin typeface="Cambria" pitchFamily="34" charset="0"/>
                <a:ea typeface="Cambria" pitchFamily="34" charset="-122"/>
                <a:cs typeface="Cambria" pitchFamily="34" charset="-120"/>
              </a:rPr>
              <a:t>The Keystone Effect</a:t>
            </a:r>
            <a:endParaRPr lang="en-US" sz="2500" dirty="0"/>
          </a:p>
        </p:txBody>
      </p:sp>
      <p:sp>
        <p:nvSpPr>
          <p:cNvPr id="4" name="Shape 2"/>
          <p:cNvSpPr/>
          <p:nvPr/>
        </p:nvSpPr>
        <p:spPr>
          <a:xfrm>
            <a:off x="10424160" y="457200"/>
            <a:ext cx="777240" cy="777240"/>
          </a:xfrm>
          <a:prstGeom prst="ellipse">
            <a:avLst/>
          </a:prstGeom>
          <a:solidFill>
            <a:srgbClr val="2E2A5C"/>
          </a:solidFill>
          <a:ln/>
        </p:spPr>
      </p:sp>
      <p:pic>
        <p:nvPicPr>
          <p:cNvPr id="5" name="Image 0" descr="/home/claude/ppt3/icons/home.png">    </p:cNvPr>
          <p:cNvPicPr>
            <a:picLocks noChangeAspect="1"/>
          </p:cNvPicPr>
          <p:nvPr/>
        </p:nvPicPr>
        <p:blipFill>
          <a:blip r:embed="rId1"/>
          <a:stretch>
            <a:fillRect/>
          </a:stretch>
        </p:blipFill>
        <p:spPr>
          <a:xfrm>
            <a:off x="10610698" y="643738"/>
            <a:ext cx="404165" cy="404165"/>
          </a:xfrm>
          <a:prstGeom prst="rect">
            <a:avLst/>
          </a:prstGeom>
        </p:spPr>
      </p:pic>
      <p:pic>
        <p:nvPicPr>
          <p:cNvPr id="6" name="Image 1" descr="/home/claude/ppt3/diagrams/keystone.png">    </p:cNvPr>
          <p:cNvPicPr>
            <a:picLocks noChangeAspect="1"/>
          </p:cNvPicPr>
          <p:nvPr/>
        </p:nvPicPr>
        <p:blipFill>
          <a:blip r:embed="rId2"/>
          <a:stretch>
            <a:fillRect/>
          </a:stretch>
        </p:blipFill>
        <p:spPr>
          <a:xfrm>
            <a:off x="2354580" y="1371600"/>
            <a:ext cx="7315200" cy="3657600"/>
          </a:xfrm>
          <a:prstGeom prst="rect">
            <a:avLst/>
          </a:prstGeom>
        </p:spPr>
      </p:pic>
      <p:sp>
        <p:nvSpPr>
          <p:cNvPr id="7" name="Shape 3"/>
          <p:cNvSpPr/>
          <p:nvPr/>
        </p:nvSpPr>
        <p:spPr>
          <a:xfrm>
            <a:off x="640080" y="5193792"/>
            <a:ext cx="10744200" cy="1097280"/>
          </a:xfrm>
          <a:prstGeom prst="roundRect">
            <a:avLst>
              <a:gd name="adj" fmla="val 6667"/>
            </a:avLst>
          </a:prstGeom>
          <a:solidFill>
            <a:srgbClr val="F3F2F9"/>
          </a:solidFill>
          <a:ln/>
        </p:spPr>
      </p:sp>
      <p:sp>
        <p:nvSpPr>
          <p:cNvPr id="8" name="Text 4"/>
          <p:cNvSpPr/>
          <p:nvPr/>
        </p:nvSpPr>
        <p:spPr>
          <a:xfrm>
            <a:off x="914400" y="5193792"/>
            <a:ext cx="10241280" cy="1097280"/>
          </a:xfrm>
          <a:prstGeom prst="rect">
            <a:avLst/>
          </a:prstGeom>
          <a:noFill/>
          <a:ln/>
        </p:spPr>
        <p:txBody>
          <a:bodyPr wrap="square" rtlCol="0" anchor="ctr"/>
          <a:lstStyle/>
          <a:p>
            <a:pPr indent="0" marL="0">
              <a:lnSpc>
                <a:spcPts val="1550"/>
              </a:lnSpc>
              <a:buNone/>
            </a:pPr>
            <a:r>
              <a:rPr lang="en-US" sz="1150" b="1" dirty="0">
                <a:solidFill>
                  <a:srgbClr val="2E2A5C"/>
                </a:solidFill>
                <a:latin typeface="Calibri" pitchFamily="34" charset="0"/>
                <a:ea typeface="Calibri" pitchFamily="34" charset="-122"/>
                <a:cs typeface="Calibri" pitchFamily="34" charset="-120"/>
              </a:rPr>
              <a:t>Why it happens: </a:t>
            </a:r>
            <a:pPr indent="0" marL="0">
              <a:lnSpc>
                <a:spcPts val="1550"/>
              </a:lnSpc>
              <a:buNone/>
            </a:pPr>
            <a:r>
              <a:rPr lang="en-US" sz="1150" dirty="0">
                <a:solidFill>
                  <a:srgbClr val="1F2333"/>
                </a:solidFill>
                <a:latin typeface="Calibri" pitchFamily="34" charset="0"/>
                <a:ea typeface="Calibri" pitchFamily="34" charset="-122"/>
                <a:cs typeface="Calibri" pitchFamily="34" charset="-120"/>
              </a:rPr>
              <a:t>pointing a camera upward (or downward) tilts the image plane relative to the subject's vertical lines. The top of the building sits farther from the lens along the optical axis than the base, so it projects smaller — the sides appear to converge toward a vanishing point.</a:t>
            </a:r>
            <a:endParaRPr lang="en-US" sz="1150" dirty="0"/>
          </a:p>
        </p:txBody>
      </p:sp>
      <p:sp>
        <p:nvSpPr>
          <p:cNvPr id="9" name="Text 5"/>
          <p:cNvSpPr/>
          <p:nvPr/>
        </p:nvSpPr>
        <p:spPr>
          <a:xfrm>
            <a:off x="457200" y="6510528"/>
            <a:ext cx="7315200" cy="274320"/>
          </a:xfrm>
          <a:prstGeom prst="rect">
            <a:avLst/>
          </a:prstGeom>
          <a:noFill/>
          <a:ln/>
        </p:spPr>
        <p:txBody>
          <a:bodyPr wrap="square" rtlCol="0" anchor="ctr"/>
          <a:lstStyle/>
          <a:p>
            <a:pPr algn="l" indent="0" marL="0">
              <a:buNone/>
            </a:pPr>
            <a:r>
              <a:rPr lang="en-US" sz="900" dirty="0">
                <a:solidFill>
                  <a:srgbClr val="6A6E82"/>
                </a:solidFill>
                <a:latin typeface="Calibri" pitchFamily="34" charset="0"/>
                <a:ea typeface="Calibri" pitchFamily="34" charset="-122"/>
                <a:cs typeface="Calibri" pitchFamily="34" charset="-120"/>
              </a:rPr>
              <a:t>Perspective Distortion in Real-World Images</a:t>
            </a:r>
            <a:endParaRPr lang="en-US" sz="900" dirty="0"/>
          </a:p>
        </p:txBody>
      </p:sp>
      <p:sp>
        <p:nvSpPr>
          <p:cNvPr id="10" name="Text 6"/>
          <p:cNvSpPr/>
          <p:nvPr/>
        </p:nvSpPr>
        <p:spPr>
          <a:xfrm>
            <a:off x="11338560" y="6510528"/>
            <a:ext cx="457200" cy="274320"/>
          </a:xfrm>
          <a:prstGeom prst="rect">
            <a:avLst/>
          </a:prstGeom>
          <a:noFill/>
          <a:ln/>
        </p:spPr>
        <p:txBody>
          <a:bodyPr wrap="square" rtlCol="0" anchor="ctr"/>
          <a:lstStyle/>
          <a:p>
            <a:pPr algn="r" indent="0" marL="0">
              <a:buNone/>
            </a:pPr>
            <a:r>
              <a:rPr lang="en-US" sz="900" dirty="0">
                <a:solidFill>
                  <a:srgbClr val="6A6E8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5486400" cy="320040"/>
          </a:xfrm>
          <a:prstGeom prst="rect">
            <a:avLst/>
          </a:prstGeom>
          <a:noFill/>
          <a:ln/>
        </p:spPr>
        <p:txBody>
          <a:bodyPr wrap="square" rtlCol="0" anchor="ctr"/>
          <a:lstStyle/>
          <a:p>
            <a:pPr indent="0" marL="0">
              <a:buNone/>
            </a:pPr>
            <a:r>
              <a:rPr lang="en-US" sz="1200" b="1" spc="200" kern="0" dirty="0">
                <a:solidFill>
                  <a:srgbClr val="5B57A3"/>
                </a:solidFill>
                <a:latin typeface="Calibri" pitchFamily="34" charset="0"/>
                <a:ea typeface="Calibri" pitchFamily="34" charset="-122"/>
                <a:cs typeface="Calibri" pitchFamily="34" charset="-120"/>
              </a:rPr>
              <a:t>VISUAL EXAMPLE</a:t>
            </a:r>
            <a:endParaRPr lang="en-US" sz="1200" dirty="0"/>
          </a:p>
        </p:txBody>
      </p:sp>
      <p:sp>
        <p:nvSpPr>
          <p:cNvPr id="3" name="Text 1"/>
          <p:cNvSpPr/>
          <p:nvPr/>
        </p:nvSpPr>
        <p:spPr>
          <a:xfrm>
            <a:off x="640080" y="694944"/>
            <a:ext cx="10515600" cy="502920"/>
          </a:xfrm>
          <a:prstGeom prst="rect">
            <a:avLst/>
          </a:prstGeom>
          <a:noFill/>
          <a:ln/>
        </p:spPr>
        <p:txBody>
          <a:bodyPr wrap="square" rtlCol="0" anchor="ctr"/>
          <a:lstStyle/>
          <a:p>
            <a:pPr indent="0" marL="0">
              <a:buNone/>
            </a:pPr>
            <a:r>
              <a:rPr lang="en-US" sz="2500" b="1" dirty="0">
                <a:solidFill>
                  <a:srgbClr val="1F2333"/>
                </a:solidFill>
                <a:latin typeface="Cambria" pitchFamily="34" charset="0"/>
                <a:ea typeface="Cambria" pitchFamily="34" charset="-122"/>
                <a:cs typeface="Cambria" pitchFamily="34" charset="-120"/>
              </a:rPr>
              <a:t>Lens-Induced Distortion</a:t>
            </a:r>
            <a:endParaRPr lang="en-US" sz="2500" dirty="0"/>
          </a:p>
        </p:txBody>
      </p:sp>
      <p:sp>
        <p:nvSpPr>
          <p:cNvPr id="4" name="Shape 2"/>
          <p:cNvSpPr/>
          <p:nvPr/>
        </p:nvSpPr>
        <p:spPr>
          <a:xfrm>
            <a:off x="10424160" y="457200"/>
            <a:ext cx="777240" cy="777240"/>
          </a:xfrm>
          <a:prstGeom prst="ellipse">
            <a:avLst/>
          </a:prstGeom>
          <a:solidFill>
            <a:srgbClr val="2E2A5C"/>
          </a:solidFill>
          <a:ln/>
        </p:spPr>
      </p:sp>
      <p:pic>
        <p:nvPicPr>
          <p:cNvPr id="5" name="Image 0" descr="/home/claude/ppt3/icons/aperture.png">    </p:cNvPr>
          <p:cNvPicPr>
            <a:picLocks noChangeAspect="1"/>
          </p:cNvPicPr>
          <p:nvPr/>
        </p:nvPicPr>
        <p:blipFill>
          <a:blip r:embed="rId1"/>
          <a:stretch>
            <a:fillRect/>
          </a:stretch>
        </p:blipFill>
        <p:spPr>
          <a:xfrm>
            <a:off x="10610698" y="643738"/>
            <a:ext cx="404165" cy="404165"/>
          </a:xfrm>
          <a:prstGeom prst="rect">
            <a:avLst/>
          </a:prstGeom>
        </p:spPr>
      </p:pic>
      <p:pic>
        <p:nvPicPr>
          <p:cNvPr id="6" name="Image 1" descr="/home/claude/ppt3/diagrams/lens_grids.png">    </p:cNvPr>
          <p:cNvPicPr>
            <a:picLocks noChangeAspect="1"/>
          </p:cNvPicPr>
          <p:nvPr/>
        </p:nvPicPr>
        <p:blipFill>
          <a:blip r:embed="rId2"/>
          <a:stretch>
            <a:fillRect/>
          </a:stretch>
        </p:blipFill>
        <p:spPr>
          <a:xfrm>
            <a:off x="777240" y="1417320"/>
            <a:ext cx="10469880" cy="4325112"/>
          </a:xfrm>
          <a:prstGeom prst="rect">
            <a:avLst/>
          </a:prstGeom>
        </p:spPr>
      </p:pic>
      <p:sp>
        <p:nvSpPr>
          <p:cNvPr id="7" name="Text 3"/>
          <p:cNvSpPr/>
          <p:nvPr/>
        </p:nvSpPr>
        <p:spPr>
          <a:xfrm>
            <a:off x="640080" y="5806440"/>
            <a:ext cx="10744200" cy="777240"/>
          </a:xfrm>
          <a:prstGeom prst="rect">
            <a:avLst/>
          </a:prstGeom>
          <a:noFill/>
          <a:ln/>
        </p:spPr>
        <p:txBody>
          <a:bodyPr wrap="square" rtlCol="0" anchor="ctr"/>
          <a:lstStyle/>
          <a:p>
            <a:pPr indent="0" marL="0">
              <a:lnSpc>
                <a:spcPts val="1550"/>
              </a:lnSpc>
              <a:buNone/>
            </a:pPr>
            <a:r>
              <a:rPr lang="en-US" sz="1150" b="1" dirty="0">
                <a:solidFill>
                  <a:srgbClr val="2E2A5C"/>
                </a:solidFill>
                <a:latin typeface="Calibri" pitchFamily="34" charset="0"/>
                <a:ea typeface="Calibri" pitchFamily="34" charset="-122"/>
                <a:cs typeface="Calibri" pitchFamily="34" charset="-120"/>
              </a:rPr>
              <a:t>Why it happens: </a:t>
            </a:r>
            <a:pPr indent="0" marL="0">
              <a:lnSpc>
                <a:spcPts val="1550"/>
              </a:lnSpc>
              <a:buNone/>
            </a:pPr>
            <a:r>
              <a:rPr lang="en-US" sz="1150" dirty="0">
                <a:solidFill>
                  <a:srgbClr val="1F2333"/>
                </a:solidFill>
                <a:latin typeface="Calibri" pitchFamily="34" charset="0"/>
                <a:ea typeface="Calibri" pitchFamily="34" charset="-122"/>
                <a:cs typeface="Calibri" pitchFamily="34" charset="-120"/>
              </a:rPr>
              <a:t>real lenses refract light unevenly across their surface. Wide-angle lenses tend to magnify the center less than the edges (barrel); telephoto/zoom lenses often do the reverse (pincushion). Camera calibration models this with radial distortion coefficients.</a:t>
            </a:r>
            <a:endParaRPr lang="en-US" sz="1150" dirty="0"/>
          </a:p>
        </p:txBody>
      </p:sp>
      <p:sp>
        <p:nvSpPr>
          <p:cNvPr id="8" name="Text 4"/>
          <p:cNvSpPr/>
          <p:nvPr/>
        </p:nvSpPr>
        <p:spPr>
          <a:xfrm>
            <a:off x="457200" y="6510528"/>
            <a:ext cx="7315200" cy="274320"/>
          </a:xfrm>
          <a:prstGeom prst="rect">
            <a:avLst/>
          </a:prstGeom>
          <a:noFill/>
          <a:ln/>
        </p:spPr>
        <p:txBody>
          <a:bodyPr wrap="square" rtlCol="0" anchor="ctr"/>
          <a:lstStyle/>
          <a:p>
            <a:pPr algn="l" indent="0" marL="0">
              <a:buNone/>
            </a:pPr>
            <a:r>
              <a:rPr lang="en-US" sz="900" dirty="0">
                <a:solidFill>
                  <a:srgbClr val="6A6E82"/>
                </a:solidFill>
                <a:latin typeface="Calibri" pitchFamily="34" charset="0"/>
                <a:ea typeface="Calibri" pitchFamily="34" charset="-122"/>
                <a:cs typeface="Calibri" pitchFamily="34" charset="-120"/>
              </a:rPr>
              <a:t>Perspective Distortion in Real-World Images</a:t>
            </a:r>
            <a:endParaRPr lang="en-US" sz="900" dirty="0"/>
          </a:p>
        </p:txBody>
      </p:sp>
      <p:sp>
        <p:nvSpPr>
          <p:cNvPr id="9" name="Text 5"/>
          <p:cNvSpPr/>
          <p:nvPr/>
        </p:nvSpPr>
        <p:spPr>
          <a:xfrm>
            <a:off x="11338560" y="6510528"/>
            <a:ext cx="457200" cy="274320"/>
          </a:xfrm>
          <a:prstGeom prst="rect">
            <a:avLst/>
          </a:prstGeom>
          <a:noFill/>
          <a:ln/>
        </p:spPr>
        <p:txBody>
          <a:bodyPr wrap="square" rtlCol="0" anchor="ctr"/>
          <a:lstStyle/>
          <a:p>
            <a:pPr algn="r" indent="0" marL="0">
              <a:buNone/>
            </a:pPr>
            <a:r>
              <a:rPr lang="en-US" sz="900" dirty="0">
                <a:solidFill>
                  <a:srgbClr val="6A6E8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5486400" cy="320040"/>
          </a:xfrm>
          <a:prstGeom prst="rect">
            <a:avLst/>
          </a:prstGeom>
          <a:noFill/>
          <a:ln/>
        </p:spPr>
        <p:txBody>
          <a:bodyPr wrap="square" rtlCol="0" anchor="ctr"/>
          <a:lstStyle/>
          <a:p>
            <a:pPr indent="0" marL="0">
              <a:buNone/>
            </a:pPr>
            <a:r>
              <a:rPr lang="en-US" sz="1200" b="1" spc="200" kern="0" dirty="0">
                <a:solidFill>
                  <a:srgbClr val="5B57A3"/>
                </a:solidFill>
                <a:latin typeface="Calibri" pitchFamily="34" charset="0"/>
                <a:ea typeface="Calibri" pitchFamily="34" charset="-122"/>
                <a:cs typeface="Calibri" pitchFamily="34" charset="-120"/>
              </a:rPr>
              <a:t>VISUAL EXAMPLE</a:t>
            </a:r>
            <a:endParaRPr lang="en-US" sz="1200" dirty="0"/>
          </a:p>
        </p:txBody>
      </p:sp>
      <p:sp>
        <p:nvSpPr>
          <p:cNvPr id="3" name="Text 1"/>
          <p:cNvSpPr/>
          <p:nvPr/>
        </p:nvSpPr>
        <p:spPr>
          <a:xfrm>
            <a:off x="640080" y="694944"/>
            <a:ext cx="10515600" cy="502920"/>
          </a:xfrm>
          <a:prstGeom prst="rect">
            <a:avLst/>
          </a:prstGeom>
          <a:noFill/>
          <a:ln/>
        </p:spPr>
        <p:txBody>
          <a:bodyPr wrap="square" rtlCol="0" anchor="ctr"/>
          <a:lstStyle/>
          <a:p>
            <a:pPr indent="0" marL="0">
              <a:buNone/>
            </a:pPr>
            <a:r>
              <a:rPr lang="en-US" sz="2500" b="1" dirty="0">
                <a:solidFill>
                  <a:srgbClr val="1F2333"/>
                </a:solidFill>
                <a:latin typeface="Cambria" pitchFamily="34" charset="0"/>
                <a:ea typeface="Cambria" pitchFamily="34" charset="-122"/>
                <a:cs typeface="Cambria" pitchFamily="34" charset="-120"/>
              </a:rPr>
              <a:t>Perspective Compression</a:t>
            </a:r>
            <a:endParaRPr lang="en-US" sz="2500" dirty="0"/>
          </a:p>
        </p:txBody>
      </p:sp>
      <p:sp>
        <p:nvSpPr>
          <p:cNvPr id="4" name="Shape 2"/>
          <p:cNvSpPr/>
          <p:nvPr/>
        </p:nvSpPr>
        <p:spPr>
          <a:xfrm>
            <a:off x="10424160" y="457200"/>
            <a:ext cx="777240" cy="777240"/>
          </a:xfrm>
          <a:prstGeom prst="ellipse">
            <a:avLst/>
          </a:prstGeom>
          <a:solidFill>
            <a:srgbClr val="2E2A5C"/>
          </a:solidFill>
          <a:ln/>
        </p:spPr>
      </p:sp>
      <p:pic>
        <p:nvPicPr>
          <p:cNvPr id="5" name="Image 0" descr="/home/claude/ppt3/icons/zoomin.png">    </p:cNvPr>
          <p:cNvPicPr>
            <a:picLocks noChangeAspect="1"/>
          </p:cNvPicPr>
          <p:nvPr/>
        </p:nvPicPr>
        <p:blipFill>
          <a:blip r:embed="rId1"/>
          <a:stretch>
            <a:fillRect/>
          </a:stretch>
        </p:blipFill>
        <p:spPr>
          <a:xfrm>
            <a:off x="10610698" y="643738"/>
            <a:ext cx="404165" cy="404165"/>
          </a:xfrm>
          <a:prstGeom prst="rect">
            <a:avLst/>
          </a:prstGeom>
        </p:spPr>
      </p:pic>
      <p:pic>
        <p:nvPicPr>
          <p:cNvPr id="6" name="Image 1" descr="/home/claude/ppt3/diagrams/focal_length.png">    </p:cNvPr>
          <p:cNvPicPr>
            <a:picLocks noChangeAspect="1"/>
          </p:cNvPicPr>
          <p:nvPr/>
        </p:nvPicPr>
        <p:blipFill>
          <a:blip r:embed="rId2"/>
          <a:stretch>
            <a:fillRect/>
          </a:stretch>
        </p:blipFill>
        <p:spPr>
          <a:xfrm>
            <a:off x="868680" y="1417320"/>
            <a:ext cx="10287000" cy="4114800"/>
          </a:xfrm>
          <a:prstGeom prst="rect">
            <a:avLst/>
          </a:prstGeom>
        </p:spPr>
      </p:pic>
      <p:sp>
        <p:nvSpPr>
          <p:cNvPr id="7" name="Shape 3"/>
          <p:cNvSpPr/>
          <p:nvPr/>
        </p:nvSpPr>
        <p:spPr>
          <a:xfrm>
            <a:off x="640080" y="5623560"/>
            <a:ext cx="10744200" cy="960120"/>
          </a:xfrm>
          <a:prstGeom prst="roundRect">
            <a:avLst>
              <a:gd name="adj" fmla="val 7619"/>
            </a:avLst>
          </a:prstGeom>
          <a:solidFill>
            <a:srgbClr val="F3F2F9"/>
          </a:solidFill>
          <a:ln/>
        </p:spPr>
      </p:sp>
      <p:sp>
        <p:nvSpPr>
          <p:cNvPr id="8" name="Text 4"/>
          <p:cNvSpPr/>
          <p:nvPr/>
        </p:nvSpPr>
        <p:spPr>
          <a:xfrm>
            <a:off x="914400" y="5623560"/>
            <a:ext cx="10241280" cy="960120"/>
          </a:xfrm>
          <a:prstGeom prst="rect">
            <a:avLst/>
          </a:prstGeom>
          <a:noFill/>
          <a:ln/>
        </p:spPr>
        <p:txBody>
          <a:bodyPr wrap="square" rtlCol="0" anchor="ctr"/>
          <a:lstStyle/>
          <a:p>
            <a:pPr indent="0" marL="0">
              <a:lnSpc>
                <a:spcPts val="1550"/>
              </a:lnSpc>
              <a:buNone/>
            </a:pPr>
            <a:r>
              <a:rPr lang="en-US" sz="1150" b="1" dirty="0">
                <a:solidFill>
                  <a:srgbClr val="2E2A5C"/>
                </a:solidFill>
                <a:latin typeface="Calibri" pitchFamily="34" charset="0"/>
                <a:ea typeface="Calibri" pitchFamily="34" charset="-122"/>
                <a:cs typeface="Calibri" pitchFamily="34" charset="-120"/>
              </a:rPr>
              <a:t>Why it happens: </a:t>
            </a:r>
            <a:pPr indent="0" marL="0">
              <a:lnSpc>
                <a:spcPts val="1550"/>
              </a:lnSpc>
              <a:buNone/>
            </a:pPr>
            <a:r>
              <a:rPr lang="en-US" sz="1150" dirty="0">
                <a:solidFill>
                  <a:srgbClr val="1F2333"/>
                </a:solidFill>
                <a:latin typeface="Calibri" pitchFamily="34" charset="0"/>
                <a:ea typeface="Calibri" pitchFamily="34" charset="-122"/>
                <a:cs typeface="Calibri" pitchFamily="34" charset="-120"/>
              </a:rPr>
              <a:t>apparent size falls off with distance from the camera. Standing close with a wide lens exaggerates that falloff (near objects loom large); standing far away with a telephoto lens flattens it (near and far objects look similarly sized).</a:t>
            </a:r>
            <a:endParaRPr lang="en-US" sz="1150" dirty="0"/>
          </a:p>
        </p:txBody>
      </p:sp>
      <p:sp>
        <p:nvSpPr>
          <p:cNvPr id="9" name="Text 5"/>
          <p:cNvSpPr/>
          <p:nvPr/>
        </p:nvSpPr>
        <p:spPr>
          <a:xfrm>
            <a:off x="457200" y="6510528"/>
            <a:ext cx="7315200" cy="274320"/>
          </a:xfrm>
          <a:prstGeom prst="rect">
            <a:avLst/>
          </a:prstGeom>
          <a:noFill/>
          <a:ln/>
        </p:spPr>
        <p:txBody>
          <a:bodyPr wrap="square" rtlCol="0" anchor="ctr"/>
          <a:lstStyle/>
          <a:p>
            <a:pPr algn="l" indent="0" marL="0">
              <a:buNone/>
            </a:pPr>
            <a:r>
              <a:rPr lang="en-US" sz="900" dirty="0">
                <a:solidFill>
                  <a:srgbClr val="6A6E82"/>
                </a:solidFill>
                <a:latin typeface="Calibri" pitchFamily="34" charset="0"/>
                <a:ea typeface="Calibri" pitchFamily="34" charset="-122"/>
                <a:cs typeface="Calibri" pitchFamily="34" charset="-120"/>
              </a:rPr>
              <a:t>Perspective Distortion in Real-World Images</a:t>
            </a:r>
            <a:endParaRPr lang="en-US" sz="900" dirty="0"/>
          </a:p>
        </p:txBody>
      </p:sp>
      <p:sp>
        <p:nvSpPr>
          <p:cNvPr id="10" name="Text 6"/>
          <p:cNvSpPr/>
          <p:nvPr/>
        </p:nvSpPr>
        <p:spPr>
          <a:xfrm>
            <a:off x="11338560" y="6510528"/>
            <a:ext cx="457200" cy="274320"/>
          </a:xfrm>
          <a:prstGeom prst="rect">
            <a:avLst/>
          </a:prstGeom>
          <a:noFill/>
          <a:ln/>
        </p:spPr>
        <p:txBody>
          <a:bodyPr wrap="square" rtlCol="0" anchor="ctr"/>
          <a:lstStyle/>
          <a:p>
            <a:pPr algn="r" indent="0" marL="0">
              <a:buNone/>
            </a:pPr>
            <a:r>
              <a:rPr lang="en-US" sz="900" dirty="0">
                <a:solidFill>
                  <a:srgbClr val="6A6E8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515600" cy="548640"/>
          </a:xfrm>
          <a:prstGeom prst="rect">
            <a:avLst/>
          </a:prstGeom>
          <a:noFill/>
          <a:ln/>
        </p:spPr>
        <p:txBody>
          <a:bodyPr wrap="square" rtlCol="0" anchor="ctr"/>
          <a:lstStyle/>
          <a:p>
            <a:pPr indent="0" marL="0">
              <a:buNone/>
            </a:pPr>
            <a:r>
              <a:rPr lang="en-US" sz="2800" b="1" dirty="0">
                <a:solidFill>
                  <a:srgbClr val="1F2333"/>
                </a:solidFill>
                <a:latin typeface="Cambria" pitchFamily="34" charset="0"/>
                <a:ea typeface="Cambria" pitchFamily="34" charset="-122"/>
                <a:cs typeface="Cambria" pitchFamily="34" charset="-120"/>
              </a:rPr>
              <a:t>Root Causes, Structured</a:t>
            </a:r>
            <a:endParaRPr lang="en-US" sz="2800" dirty="0"/>
          </a:p>
        </p:txBody>
      </p:sp>
      <p:sp>
        <p:nvSpPr>
          <p:cNvPr id="3" name="Text 1"/>
          <p:cNvSpPr/>
          <p:nvPr/>
        </p:nvSpPr>
        <p:spPr>
          <a:xfrm>
            <a:off x="640080" y="1005840"/>
            <a:ext cx="10058400" cy="365760"/>
          </a:xfrm>
          <a:prstGeom prst="rect">
            <a:avLst/>
          </a:prstGeom>
          <a:noFill/>
          <a:ln/>
        </p:spPr>
        <p:txBody>
          <a:bodyPr wrap="square" rtlCol="0" anchor="ctr"/>
          <a:lstStyle/>
          <a:p>
            <a:pPr indent="0" marL="0">
              <a:buNone/>
            </a:pPr>
            <a:r>
              <a:rPr lang="en-US" sz="1300" dirty="0">
                <a:solidFill>
                  <a:srgbClr val="6A6E82"/>
                </a:solidFill>
                <a:latin typeface="Calibri" pitchFamily="34" charset="0"/>
                <a:ea typeface="Calibri" pitchFamily="34" charset="-122"/>
                <a:cs typeface="Calibri" pitchFamily="34" charset="-120"/>
              </a:rPr>
              <a:t>Every distortion traces back to one of four variables</a:t>
            </a:r>
            <a:endParaRPr lang="en-US" sz="1300" dirty="0"/>
          </a:p>
        </p:txBody>
      </p:sp>
      <p:sp>
        <p:nvSpPr>
          <p:cNvPr id="4" name="Shape 2"/>
          <p:cNvSpPr/>
          <p:nvPr/>
        </p:nvSpPr>
        <p:spPr>
          <a:xfrm>
            <a:off x="640080" y="1600200"/>
            <a:ext cx="5212080" cy="2103120"/>
          </a:xfrm>
          <a:prstGeom prst="roundRect">
            <a:avLst>
              <a:gd name="adj" fmla="val 3913"/>
            </a:avLst>
          </a:prstGeom>
          <a:solidFill>
            <a:srgbClr val="F3F2F9"/>
          </a:solidFill>
          <a:ln/>
        </p:spPr>
      </p:sp>
      <p:sp>
        <p:nvSpPr>
          <p:cNvPr id="5" name="Shape 3"/>
          <p:cNvSpPr/>
          <p:nvPr/>
        </p:nvSpPr>
        <p:spPr>
          <a:xfrm>
            <a:off x="868680" y="1828800"/>
            <a:ext cx="548640" cy="548640"/>
          </a:xfrm>
          <a:prstGeom prst="ellipse">
            <a:avLst/>
          </a:prstGeom>
          <a:solidFill>
            <a:srgbClr val="2E2A5C"/>
          </a:solidFill>
          <a:ln/>
        </p:spPr>
      </p:sp>
      <p:pic>
        <p:nvPicPr>
          <p:cNvPr id="6" name="Image 0" descr="/home/claude/ppt3/icons/target.png">    </p:cNvPr>
          <p:cNvPicPr>
            <a:picLocks noChangeAspect="1"/>
          </p:cNvPicPr>
          <p:nvPr/>
        </p:nvPicPr>
        <p:blipFill>
          <a:blip r:embed="rId1"/>
          <a:stretch>
            <a:fillRect/>
          </a:stretch>
        </p:blipFill>
        <p:spPr>
          <a:xfrm>
            <a:off x="1000354" y="1960474"/>
            <a:ext cx="285293" cy="285293"/>
          </a:xfrm>
          <a:prstGeom prst="rect">
            <a:avLst/>
          </a:prstGeom>
        </p:spPr>
      </p:pic>
      <p:sp>
        <p:nvSpPr>
          <p:cNvPr id="7" name="Text 4"/>
          <p:cNvSpPr/>
          <p:nvPr/>
        </p:nvSpPr>
        <p:spPr>
          <a:xfrm>
            <a:off x="1600200" y="1856232"/>
            <a:ext cx="4023360" cy="365760"/>
          </a:xfrm>
          <a:prstGeom prst="rect">
            <a:avLst/>
          </a:prstGeom>
          <a:noFill/>
          <a:ln/>
        </p:spPr>
        <p:txBody>
          <a:bodyPr wrap="square" rtlCol="0" anchor="ctr"/>
          <a:lstStyle/>
          <a:p>
            <a:pPr indent="0" marL="0">
              <a:buNone/>
            </a:pPr>
            <a:r>
              <a:rPr lang="en-US" sz="1450" b="1" dirty="0">
                <a:solidFill>
                  <a:srgbClr val="1F2333"/>
                </a:solidFill>
                <a:latin typeface="Calibri" pitchFamily="34" charset="0"/>
                <a:ea typeface="Calibri" pitchFamily="34" charset="-122"/>
                <a:cs typeface="Calibri" pitchFamily="34" charset="-120"/>
              </a:rPr>
              <a:t>Camera Angle</a:t>
            </a:r>
            <a:endParaRPr lang="en-US" sz="1450" dirty="0"/>
          </a:p>
        </p:txBody>
      </p:sp>
      <p:sp>
        <p:nvSpPr>
          <p:cNvPr id="8" name="Text 5"/>
          <p:cNvSpPr/>
          <p:nvPr/>
        </p:nvSpPr>
        <p:spPr>
          <a:xfrm>
            <a:off x="868680" y="2468880"/>
            <a:ext cx="4754880" cy="1097280"/>
          </a:xfrm>
          <a:prstGeom prst="rect">
            <a:avLst/>
          </a:prstGeom>
          <a:noFill/>
          <a:ln/>
        </p:spPr>
        <p:txBody>
          <a:bodyPr wrap="square" rtlCol="0" anchor="ctr"/>
          <a:lstStyle/>
          <a:p>
            <a:pPr indent="0" marL="0">
              <a:lnSpc>
                <a:spcPts val="1500"/>
              </a:lnSpc>
              <a:buNone/>
            </a:pPr>
            <a:r>
              <a:rPr lang="en-US" sz="1100" dirty="0">
                <a:solidFill>
                  <a:srgbClr val="1F2333"/>
                </a:solidFill>
                <a:latin typeface="Calibri" pitchFamily="34" charset="0"/>
                <a:ea typeface="Calibri" pitchFamily="34" charset="-122"/>
                <a:cs typeface="Calibri" pitchFamily="34" charset="-120"/>
              </a:rPr>
              <a:t>A non-perpendicular viewpoint relative to a flat subject creates converging lines (keystone effect).</a:t>
            </a:r>
            <a:endParaRPr lang="en-US" sz="1100" dirty="0"/>
          </a:p>
        </p:txBody>
      </p:sp>
      <p:sp>
        <p:nvSpPr>
          <p:cNvPr id="9" name="Shape 6"/>
          <p:cNvSpPr/>
          <p:nvPr/>
        </p:nvSpPr>
        <p:spPr>
          <a:xfrm>
            <a:off x="6172200" y="1600200"/>
            <a:ext cx="5212080" cy="2103120"/>
          </a:xfrm>
          <a:prstGeom prst="roundRect">
            <a:avLst>
              <a:gd name="adj" fmla="val 3913"/>
            </a:avLst>
          </a:prstGeom>
          <a:solidFill>
            <a:srgbClr val="F3F2F9"/>
          </a:solidFill>
          <a:ln/>
        </p:spPr>
      </p:sp>
      <p:sp>
        <p:nvSpPr>
          <p:cNvPr id="10" name="Shape 7"/>
          <p:cNvSpPr/>
          <p:nvPr/>
        </p:nvSpPr>
        <p:spPr>
          <a:xfrm>
            <a:off x="6400800" y="1828800"/>
            <a:ext cx="548640" cy="548640"/>
          </a:xfrm>
          <a:prstGeom prst="ellipse">
            <a:avLst/>
          </a:prstGeom>
          <a:solidFill>
            <a:srgbClr val="2E2A5C"/>
          </a:solidFill>
          <a:ln/>
        </p:spPr>
      </p:sp>
      <p:pic>
        <p:nvPicPr>
          <p:cNvPr id="11" name="Image 1" descr="/home/claude/ppt3/icons/zoomin.png">    </p:cNvPr>
          <p:cNvPicPr>
            <a:picLocks noChangeAspect="1"/>
          </p:cNvPicPr>
          <p:nvPr/>
        </p:nvPicPr>
        <p:blipFill>
          <a:blip r:embed="rId2"/>
          <a:stretch>
            <a:fillRect/>
          </a:stretch>
        </p:blipFill>
        <p:spPr>
          <a:xfrm>
            <a:off x="6532474" y="1960474"/>
            <a:ext cx="285293" cy="285293"/>
          </a:xfrm>
          <a:prstGeom prst="rect">
            <a:avLst/>
          </a:prstGeom>
        </p:spPr>
      </p:pic>
      <p:sp>
        <p:nvSpPr>
          <p:cNvPr id="12" name="Text 8"/>
          <p:cNvSpPr/>
          <p:nvPr/>
        </p:nvSpPr>
        <p:spPr>
          <a:xfrm>
            <a:off x="7132320" y="1856232"/>
            <a:ext cx="4023360" cy="365760"/>
          </a:xfrm>
          <a:prstGeom prst="rect">
            <a:avLst/>
          </a:prstGeom>
          <a:noFill/>
          <a:ln/>
        </p:spPr>
        <p:txBody>
          <a:bodyPr wrap="square" rtlCol="0" anchor="ctr"/>
          <a:lstStyle/>
          <a:p>
            <a:pPr indent="0" marL="0">
              <a:buNone/>
            </a:pPr>
            <a:r>
              <a:rPr lang="en-US" sz="1450" b="1" dirty="0">
                <a:solidFill>
                  <a:srgbClr val="1F2333"/>
                </a:solidFill>
                <a:latin typeface="Calibri" pitchFamily="34" charset="0"/>
                <a:ea typeface="Calibri" pitchFamily="34" charset="-122"/>
                <a:cs typeface="Calibri" pitchFamily="34" charset="-120"/>
              </a:rPr>
              <a:t>Focal Length</a:t>
            </a:r>
            <a:endParaRPr lang="en-US" sz="1450" dirty="0"/>
          </a:p>
        </p:txBody>
      </p:sp>
      <p:sp>
        <p:nvSpPr>
          <p:cNvPr id="13" name="Text 9"/>
          <p:cNvSpPr/>
          <p:nvPr/>
        </p:nvSpPr>
        <p:spPr>
          <a:xfrm>
            <a:off x="6400800" y="2468880"/>
            <a:ext cx="4754880" cy="1097280"/>
          </a:xfrm>
          <a:prstGeom prst="rect">
            <a:avLst/>
          </a:prstGeom>
          <a:noFill/>
          <a:ln/>
        </p:spPr>
        <p:txBody>
          <a:bodyPr wrap="square" rtlCol="0" anchor="ctr"/>
          <a:lstStyle/>
          <a:p>
            <a:pPr indent="0" marL="0">
              <a:lnSpc>
                <a:spcPts val="1500"/>
              </a:lnSpc>
              <a:buNone/>
            </a:pPr>
            <a:r>
              <a:rPr lang="en-US" sz="1100" dirty="0">
                <a:solidFill>
                  <a:srgbClr val="1F2333"/>
                </a:solidFill>
                <a:latin typeface="Calibri" pitchFamily="34" charset="0"/>
                <a:ea typeface="Calibri" pitchFamily="34" charset="-122"/>
                <a:cs typeface="Calibri" pitchFamily="34" charset="-120"/>
              </a:rPr>
              <a:t>Wide focal lengths exaggerate depth differences; long focal lengths compress them.</a:t>
            </a:r>
            <a:endParaRPr lang="en-US" sz="1100" dirty="0"/>
          </a:p>
        </p:txBody>
      </p:sp>
      <p:sp>
        <p:nvSpPr>
          <p:cNvPr id="14" name="Shape 10"/>
          <p:cNvSpPr/>
          <p:nvPr/>
        </p:nvSpPr>
        <p:spPr>
          <a:xfrm>
            <a:off x="640080" y="3931920"/>
            <a:ext cx="5212080" cy="2103120"/>
          </a:xfrm>
          <a:prstGeom prst="roundRect">
            <a:avLst>
              <a:gd name="adj" fmla="val 3913"/>
            </a:avLst>
          </a:prstGeom>
          <a:solidFill>
            <a:srgbClr val="F3F2F9"/>
          </a:solidFill>
          <a:ln/>
        </p:spPr>
      </p:sp>
      <p:sp>
        <p:nvSpPr>
          <p:cNvPr id="15" name="Shape 11"/>
          <p:cNvSpPr/>
          <p:nvPr/>
        </p:nvSpPr>
        <p:spPr>
          <a:xfrm>
            <a:off x="868680" y="4160520"/>
            <a:ext cx="548640" cy="548640"/>
          </a:xfrm>
          <a:prstGeom prst="ellipse">
            <a:avLst/>
          </a:prstGeom>
          <a:solidFill>
            <a:srgbClr val="2E2A5C"/>
          </a:solidFill>
          <a:ln/>
        </p:spPr>
      </p:sp>
      <p:pic>
        <p:nvPicPr>
          <p:cNvPr id="16" name="Image 2" descr="/home/claude/ppt3/icons/aperture.png">    </p:cNvPr>
          <p:cNvPicPr>
            <a:picLocks noChangeAspect="1"/>
          </p:cNvPicPr>
          <p:nvPr/>
        </p:nvPicPr>
        <p:blipFill>
          <a:blip r:embed="rId3"/>
          <a:stretch>
            <a:fillRect/>
          </a:stretch>
        </p:blipFill>
        <p:spPr>
          <a:xfrm>
            <a:off x="1000354" y="4292194"/>
            <a:ext cx="285293" cy="285293"/>
          </a:xfrm>
          <a:prstGeom prst="rect">
            <a:avLst/>
          </a:prstGeom>
        </p:spPr>
      </p:pic>
      <p:sp>
        <p:nvSpPr>
          <p:cNvPr id="17" name="Text 12"/>
          <p:cNvSpPr/>
          <p:nvPr/>
        </p:nvSpPr>
        <p:spPr>
          <a:xfrm>
            <a:off x="1600200" y="4187952"/>
            <a:ext cx="4023360" cy="365760"/>
          </a:xfrm>
          <a:prstGeom prst="rect">
            <a:avLst/>
          </a:prstGeom>
          <a:noFill/>
          <a:ln/>
        </p:spPr>
        <p:txBody>
          <a:bodyPr wrap="square" rtlCol="0" anchor="ctr"/>
          <a:lstStyle/>
          <a:p>
            <a:pPr indent="0" marL="0">
              <a:buNone/>
            </a:pPr>
            <a:r>
              <a:rPr lang="en-US" sz="1450" b="1" dirty="0">
                <a:solidFill>
                  <a:srgbClr val="1F2333"/>
                </a:solidFill>
                <a:latin typeface="Calibri" pitchFamily="34" charset="0"/>
                <a:ea typeface="Calibri" pitchFamily="34" charset="-122"/>
                <a:cs typeface="Calibri" pitchFamily="34" charset="-120"/>
              </a:rPr>
              <a:t>Lens Geometry</a:t>
            </a:r>
            <a:endParaRPr lang="en-US" sz="1450" dirty="0"/>
          </a:p>
        </p:txBody>
      </p:sp>
      <p:sp>
        <p:nvSpPr>
          <p:cNvPr id="18" name="Text 13"/>
          <p:cNvSpPr/>
          <p:nvPr/>
        </p:nvSpPr>
        <p:spPr>
          <a:xfrm>
            <a:off x="868680" y="4800600"/>
            <a:ext cx="4754880" cy="1097280"/>
          </a:xfrm>
          <a:prstGeom prst="rect">
            <a:avLst/>
          </a:prstGeom>
          <a:noFill/>
          <a:ln/>
        </p:spPr>
        <p:txBody>
          <a:bodyPr wrap="square" rtlCol="0" anchor="ctr"/>
          <a:lstStyle/>
          <a:p>
            <a:pPr indent="0" marL="0">
              <a:lnSpc>
                <a:spcPts val="1500"/>
              </a:lnSpc>
              <a:buNone/>
            </a:pPr>
            <a:r>
              <a:rPr lang="en-US" sz="1100" dirty="0">
                <a:solidFill>
                  <a:srgbClr val="1F2333"/>
                </a:solidFill>
                <a:latin typeface="Calibri" pitchFamily="34" charset="0"/>
                <a:ea typeface="Calibri" pitchFamily="34" charset="-122"/>
                <a:cs typeface="Calibri" pitchFamily="34" charset="-120"/>
              </a:rPr>
              <a:t>Imperfect optical elements bend light unevenly across the field of view, producing barrel or pincushion curvature.</a:t>
            </a:r>
            <a:endParaRPr lang="en-US" sz="1100" dirty="0"/>
          </a:p>
        </p:txBody>
      </p:sp>
      <p:sp>
        <p:nvSpPr>
          <p:cNvPr id="19" name="Shape 14"/>
          <p:cNvSpPr/>
          <p:nvPr/>
        </p:nvSpPr>
        <p:spPr>
          <a:xfrm>
            <a:off x="6172200" y="3931920"/>
            <a:ext cx="5212080" cy="2103120"/>
          </a:xfrm>
          <a:prstGeom prst="roundRect">
            <a:avLst>
              <a:gd name="adj" fmla="val 3913"/>
            </a:avLst>
          </a:prstGeom>
          <a:solidFill>
            <a:srgbClr val="F3F2F9"/>
          </a:solidFill>
          <a:ln/>
        </p:spPr>
      </p:sp>
      <p:sp>
        <p:nvSpPr>
          <p:cNvPr id="20" name="Shape 15"/>
          <p:cNvSpPr/>
          <p:nvPr/>
        </p:nvSpPr>
        <p:spPr>
          <a:xfrm>
            <a:off x="6400800" y="4160520"/>
            <a:ext cx="548640" cy="548640"/>
          </a:xfrm>
          <a:prstGeom prst="ellipse">
            <a:avLst/>
          </a:prstGeom>
          <a:solidFill>
            <a:srgbClr val="2E2A5C"/>
          </a:solidFill>
          <a:ln/>
        </p:spPr>
      </p:sp>
      <p:pic>
        <p:nvPicPr>
          <p:cNvPr id="21" name="Image 3" descr="/home/claude/ppt3/icons/cpu.png">    </p:cNvPr>
          <p:cNvPicPr>
            <a:picLocks noChangeAspect="1"/>
          </p:cNvPicPr>
          <p:nvPr/>
        </p:nvPicPr>
        <p:blipFill>
          <a:blip r:embed="rId4"/>
          <a:stretch>
            <a:fillRect/>
          </a:stretch>
        </p:blipFill>
        <p:spPr>
          <a:xfrm>
            <a:off x="6532474" y="4292194"/>
            <a:ext cx="285293" cy="285293"/>
          </a:xfrm>
          <a:prstGeom prst="rect">
            <a:avLst/>
          </a:prstGeom>
        </p:spPr>
      </p:pic>
      <p:sp>
        <p:nvSpPr>
          <p:cNvPr id="22" name="Text 16"/>
          <p:cNvSpPr/>
          <p:nvPr/>
        </p:nvSpPr>
        <p:spPr>
          <a:xfrm>
            <a:off x="7132320" y="4187952"/>
            <a:ext cx="4023360" cy="365760"/>
          </a:xfrm>
          <a:prstGeom prst="rect">
            <a:avLst/>
          </a:prstGeom>
          <a:noFill/>
          <a:ln/>
        </p:spPr>
        <p:txBody>
          <a:bodyPr wrap="square" rtlCol="0" anchor="ctr"/>
          <a:lstStyle/>
          <a:p>
            <a:pPr indent="0" marL="0">
              <a:buNone/>
            </a:pPr>
            <a:r>
              <a:rPr lang="en-US" sz="1450" b="1" dirty="0">
                <a:solidFill>
                  <a:srgbClr val="1F2333"/>
                </a:solidFill>
                <a:latin typeface="Calibri" pitchFamily="34" charset="0"/>
                <a:ea typeface="Calibri" pitchFamily="34" charset="-122"/>
                <a:cs typeface="Calibri" pitchFamily="34" charset="-120"/>
              </a:rPr>
              <a:t>Sensor &amp; Distance</a:t>
            </a:r>
            <a:endParaRPr lang="en-US" sz="1450" dirty="0"/>
          </a:p>
        </p:txBody>
      </p:sp>
      <p:sp>
        <p:nvSpPr>
          <p:cNvPr id="23" name="Text 17"/>
          <p:cNvSpPr/>
          <p:nvPr/>
        </p:nvSpPr>
        <p:spPr>
          <a:xfrm>
            <a:off x="6400800" y="4800600"/>
            <a:ext cx="4754880" cy="1097280"/>
          </a:xfrm>
          <a:prstGeom prst="rect">
            <a:avLst/>
          </a:prstGeom>
          <a:noFill/>
          <a:ln/>
        </p:spPr>
        <p:txBody>
          <a:bodyPr wrap="square" rtlCol="0" anchor="ctr"/>
          <a:lstStyle/>
          <a:p>
            <a:pPr indent="0" marL="0">
              <a:lnSpc>
                <a:spcPts val="1500"/>
              </a:lnSpc>
              <a:buNone/>
            </a:pPr>
            <a:r>
              <a:rPr lang="en-US" sz="1100" dirty="0">
                <a:solidFill>
                  <a:srgbClr val="1F2333"/>
                </a:solidFill>
                <a:latin typeface="Calibri" pitchFamily="34" charset="0"/>
                <a:ea typeface="Calibri" pitchFamily="34" charset="-122"/>
                <a:cs typeface="Calibri" pitchFamily="34" charset="-120"/>
              </a:rPr>
              <a:t>Subject distance relative to sensor size changes how strongly perspective effects present in the frame.</a:t>
            </a:r>
            <a:endParaRPr lang="en-US" sz="1100" dirty="0"/>
          </a:p>
        </p:txBody>
      </p:sp>
      <p:sp>
        <p:nvSpPr>
          <p:cNvPr id="24" name="Text 18"/>
          <p:cNvSpPr/>
          <p:nvPr/>
        </p:nvSpPr>
        <p:spPr>
          <a:xfrm>
            <a:off x="457200" y="6510528"/>
            <a:ext cx="7315200" cy="274320"/>
          </a:xfrm>
          <a:prstGeom prst="rect">
            <a:avLst/>
          </a:prstGeom>
          <a:noFill/>
          <a:ln/>
        </p:spPr>
        <p:txBody>
          <a:bodyPr wrap="square" rtlCol="0" anchor="ctr"/>
          <a:lstStyle/>
          <a:p>
            <a:pPr algn="l" indent="0" marL="0">
              <a:buNone/>
            </a:pPr>
            <a:r>
              <a:rPr lang="en-US" sz="900" dirty="0">
                <a:solidFill>
                  <a:srgbClr val="6A6E82"/>
                </a:solidFill>
                <a:latin typeface="Calibri" pitchFamily="34" charset="0"/>
                <a:ea typeface="Calibri" pitchFamily="34" charset="-122"/>
                <a:cs typeface="Calibri" pitchFamily="34" charset="-120"/>
              </a:rPr>
              <a:t>Perspective Distortion in Real-World Images</a:t>
            </a:r>
            <a:endParaRPr lang="en-US" sz="900" dirty="0"/>
          </a:p>
        </p:txBody>
      </p:sp>
      <p:sp>
        <p:nvSpPr>
          <p:cNvPr id="25" name="Text 19"/>
          <p:cNvSpPr/>
          <p:nvPr/>
        </p:nvSpPr>
        <p:spPr>
          <a:xfrm>
            <a:off x="11338560" y="6510528"/>
            <a:ext cx="457200" cy="274320"/>
          </a:xfrm>
          <a:prstGeom prst="rect">
            <a:avLst/>
          </a:prstGeom>
          <a:noFill/>
          <a:ln/>
        </p:spPr>
        <p:txBody>
          <a:bodyPr wrap="square" rtlCol="0" anchor="ctr"/>
          <a:lstStyle/>
          <a:p>
            <a:pPr algn="r" indent="0" marL="0">
              <a:buNone/>
            </a:pPr>
            <a:r>
              <a:rPr lang="en-US" sz="900" dirty="0">
                <a:solidFill>
                  <a:srgbClr val="6A6E8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740"/>
        </a:solidFill>
      </p:bgPr>
    </p:bg>
    <p:spTree>
      <p:nvGrpSpPr>
        <p:cNvPr id="1" name=""/>
        <p:cNvGrpSpPr/>
        <p:nvPr/>
      </p:nvGrpSpPr>
      <p:grpSpPr>
        <a:xfrm>
          <a:off x="0" y="0"/>
          <a:ext cx="0" cy="0"/>
          <a:chOff x="0" y="0"/>
          <a:chExt cx="0" cy="0"/>
        </a:xfrm>
      </p:grpSpPr>
      <p:sp>
        <p:nvSpPr>
          <p:cNvPr id="2" name="Text 0"/>
          <p:cNvSpPr/>
          <p:nvPr/>
        </p:nvSpPr>
        <p:spPr>
          <a:xfrm>
            <a:off x="640080" y="457200"/>
            <a:ext cx="10881360" cy="54864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Correction Techniques</a:t>
            </a:r>
            <a:endParaRPr lang="en-US" sz="2700" dirty="0"/>
          </a:p>
        </p:txBody>
      </p:sp>
      <p:sp>
        <p:nvSpPr>
          <p:cNvPr id="3" name="Text 1"/>
          <p:cNvSpPr/>
          <p:nvPr/>
        </p:nvSpPr>
        <p:spPr>
          <a:xfrm>
            <a:off x="640080" y="1005840"/>
            <a:ext cx="10058400" cy="365760"/>
          </a:xfrm>
          <a:prstGeom prst="rect">
            <a:avLst/>
          </a:prstGeom>
          <a:noFill/>
          <a:ln/>
        </p:spPr>
        <p:txBody>
          <a:bodyPr wrap="square" rtlCol="0" anchor="ctr"/>
          <a:lstStyle/>
          <a:p>
            <a:pPr indent="0" marL="0">
              <a:buNone/>
            </a:pPr>
            <a:r>
              <a:rPr lang="en-US" sz="1300" dirty="0">
                <a:solidFill>
                  <a:srgbClr val="B3AEDC"/>
                </a:solidFill>
                <a:latin typeface="Calibri" pitchFamily="34" charset="0"/>
                <a:ea typeface="Calibri" pitchFamily="34" charset="-122"/>
                <a:cs typeface="Calibri" pitchFamily="34" charset="-120"/>
              </a:rPr>
              <a:t>Matching each distortion family to its structured fix</a:t>
            </a:r>
            <a:endParaRPr lang="en-US" sz="1300" dirty="0"/>
          </a:p>
        </p:txBody>
      </p:sp>
      <p:sp>
        <p:nvSpPr>
          <p:cNvPr id="4" name="Shape 2"/>
          <p:cNvSpPr/>
          <p:nvPr/>
        </p:nvSpPr>
        <p:spPr>
          <a:xfrm>
            <a:off x="640080" y="1737360"/>
            <a:ext cx="2606040" cy="3520440"/>
          </a:xfrm>
          <a:prstGeom prst="roundRect">
            <a:avLst>
              <a:gd name="adj" fmla="val 3158"/>
            </a:avLst>
          </a:prstGeom>
          <a:solidFill>
            <a:srgbClr val="2A2560"/>
          </a:solidFill>
          <a:ln/>
        </p:spPr>
      </p:sp>
      <p:sp>
        <p:nvSpPr>
          <p:cNvPr id="5" name="Shape 3"/>
          <p:cNvSpPr/>
          <p:nvPr/>
        </p:nvSpPr>
        <p:spPr>
          <a:xfrm>
            <a:off x="1600200" y="2057400"/>
            <a:ext cx="685800" cy="685800"/>
          </a:xfrm>
          <a:prstGeom prst="ellipse">
            <a:avLst/>
          </a:prstGeom>
          <a:solidFill>
            <a:srgbClr val="F4A259"/>
          </a:solidFill>
          <a:ln/>
        </p:spPr>
      </p:sp>
      <p:pic>
        <p:nvPicPr>
          <p:cNvPr id="6" name="Image 0" descr="/home/claude/ppt3/icons/sliders.png">    </p:cNvPr>
          <p:cNvPicPr>
            <a:picLocks noChangeAspect="1"/>
          </p:cNvPicPr>
          <p:nvPr/>
        </p:nvPicPr>
        <p:blipFill>
          <a:blip r:embed="rId1"/>
          <a:stretch>
            <a:fillRect/>
          </a:stretch>
        </p:blipFill>
        <p:spPr>
          <a:xfrm>
            <a:off x="1764792" y="2221992"/>
            <a:ext cx="356616" cy="356616"/>
          </a:xfrm>
          <a:prstGeom prst="rect">
            <a:avLst/>
          </a:prstGeom>
        </p:spPr>
      </p:pic>
      <p:sp>
        <p:nvSpPr>
          <p:cNvPr id="7" name="Text 4"/>
          <p:cNvSpPr/>
          <p:nvPr/>
        </p:nvSpPr>
        <p:spPr>
          <a:xfrm>
            <a:off x="777240" y="2926080"/>
            <a:ext cx="2331720" cy="594360"/>
          </a:xfrm>
          <a:prstGeom prst="rect">
            <a:avLst/>
          </a:prstGeom>
          <a:noFill/>
          <a:ln/>
        </p:spPr>
        <p:txBody>
          <a:bodyPr wrap="square" rtlCol="0" anchor="ctr"/>
          <a:lstStyle/>
          <a:p>
            <a:pPr algn="ctr" indent="0" marL="0">
              <a:lnSpc>
                <a:spcPts val="1450"/>
              </a:lnSpc>
              <a:buNone/>
            </a:pPr>
            <a:r>
              <a:rPr lang="en-US" sz="1250" b="1" dirty="0">
                <a:solidFill>
                  <a:srgbClr val="FFFFFF"/>
                </a:solidFill>
                <a:latin typeface="Calibri" pitchFamily="34" charset="0"/>
                <a:ea typeface="Calibri" pitchFamily="34" charset="-122"/>
                <a:cs typeface="Calibri" pitchFamily="34" charset="-120"/>
              </a:rPr>
              <a:t>Geometric (Keystone) Correction</a:t>
            </a:r>
            <a:endParaRPr lang="en-US" sz="1250" dirty="0"/>
          </a:p>
        </p:txBody>
      </p:sp>
      <p:sp>
        <p:nvSpPr>
          <p:cNvPr id="8" name="Text 5"/>
          <p:cNvSpPr/>
          <p:nvPr/>
        </p:nvSpPr>
        <p:spPr>
          <a:xfrm>
            <a:off x="841248" y="3611880"/>
            <a:ext cx="2203704" cy="1554480"/>
          </a:xfrm>
          <a:prstGeom prst="rect">
            <a:avLst/>
          </a:prstGeom>
          <a:noFill/>
          <a:ln/>
        </p:spPr>
        <p:txBody>
          <a:bodyPr wrap="square" rtlCol="0" anchor="ctr"/>
          <a:lstStyle/>
          <a:p>
            <a:pPr algn="l" indent="0" marL="0">
              <a:lnSpc>
                <a:spcPts val="1400"/>
              </a:lnSpc>
              <a:buNone/>
            </a:pPr>
            <a:r>
              <a:rPr lang="en-US" sz="1000" dirty="0">
                <a:solidFill>
                  <a:srgbClr val="D8D5EE"/>
                </a:solidFill>
                <a:latin typeface="Calibri" pitchFamily="34" charset="0"/>
                <a:ea typeface="Calibri" pitchFamily="34" charset="-122"/>
                <a:cs typeface="Calibri" pitchFamily="34" charset="-120"/>
              </a:rPr>
              <a:t>Apply a projective transform (homography) to re-map converging lines back to parallel — standard in architectural and document scanning software.</a:t>
            </a:r>
            <a:endParaRPr lang="en-US" sz="1000" dirty="0"/>
          </a:p>
        </p:txBody>
      </p:sp>
      <p:sp>
        <p:nvSpPr>
          <p:cNvPr id="9" name="Shape 6"/>
          <p:cNvSpPr/>
          <p:nvPr/>
        </p:nvSpPr>
        <p:spPr>
          <a:xfrm>
            <a:off x="3474720" y="1737360"/>
            <a:ext cx="2606040" cy="3520440"/>
          </a:xfrm>
          <a:prstGeom prst="roundRect">
            <a:avLst>
              <a:gd name="adj" fmla="val 3158"/>
            </a:avLst>
          </a:prstGeom>
          <a:solidFill>
            <a:srgbClr val="2A2560"/>
          </a:solidFill>
          <a:ln/>
        </p:spPr>
      </p:sp>
      <p:sp>
        <p:nvSpPr>
          <p:cNvPr id="10" name="Shape 7"/>
          <p:cNvSpPr/>
          <p:nvPr/>
        </p:nvSpPr>
        <p:spPr>
          <a:xfrm>
            <a:off x="4434840" y="2057400"/>
            <a:ext cx="685800" cy="685800"/>
          </a:xfrm>
          <a:prstGeom prst="ellipse">
            <a:avLst/>
          </a:prstGeom>
          <a:solidFill>
            <a:srgbClr val="F4A259"/>
          </a:solidFill>
          <a:ln/>
        </p:spPr>
      </p:sp>
      <p:pic>
        <p:nvPicPr>
          <p:cNvPr id="11" name="Image 1" descr="/home/claude/ppt3/icons/grid.png">    </p:cNvPr>
          <p:cNvPicPr>
            <a:picLocks noChangeAspect="1"/>
          </p:cNvPicPr>
          <p:nvPr/>
        </p:nvPicPr>
        <p:blipFill>
          <a:blip r:embed="rId2"/>
          <a:stretch>
            <a:fillRect/>
          </a:stretch>
        </p:blipFill>
        <p:spPr>
          <a:xfrm>
            <a:off x="4599432" y="2221992"/>
            <a:ext cx="356616" cy="356616"/>
          </a:xfrm>
          <a:prstGeom prst="rect">
            <a:avLst/>
          </a:prstGeom>
        </p:spPr>
      </p:pic>
      <p:sp>
        <p:nvSpPr>
          <p:cNvPr id="12" name="Text 8"/>
          <p:cNvSpPr/>
          <p:nvPr/>
        </p:nvSpPr>
        <p:spPr>
          <a:xfrm>
            <a:off x="3611880" y="2926080"/>
            <a:ext cx="2331720" cy="594360"/>
          </a:xfrm>
          <a:prstGeom prst="rect">
            <a:avLst/>
          </a:prstGeom>
          <a:noFill/>
          <a:ln/>
        </p:spPr>
        <p:txBody>
          <a:bodyPr wrap="square" rtlCol="0" anchor="ctr"/>
          <a:lstStyle/>
          <a:p>
            <a:pPr algn="ctr" indent="0" marL="0">
              <a:lnSpc>
                <a:spcPts val="1450"/>
              </a:lnSpc>
              <a:buNone/>
            </a:pPr>
            <a:r>
              <a:rPr lang="en-US" sz="1250" b="1" dirty="0">
                <a:solidFill>
                  <a:srgbClr val="FFFFFF"/>
                </a:solidFill>
                <a:latin typeface="Calibri" pitchFamily="34" charset="0"/>
                <a:ea typeface="Calibri" pitchFamily="34" charset="-122"/>
                <a:cs typeface="Calibri" pitchFamily="34" charset="-120"/>
              </a:rPr>
              <a:t>Lens Calibration</a:t>
            </a:r>
            <a:endParaRPr lang="en-US" sz="1250" dirty="0"/>
          </a:p>
        </p:txBody>
      </p:sp>
      <p:sp>
        <p:nvSpPr>
          <p:cNvPr id="13" name="Text 9"/>
          <p:cNvSpPr/>
          <p:nvPr/>
        </p:nvSpPr>
        <p:spPr>
          <a:xfrm>
            <a:off x="3675888" y="3611880"/>
            <a:ext cx="2203704" cy="1554480"/>
          </a:xfrm>
          <a:prstGeom prst="rect">
            <a:avLst/>
          </a:prstGeom>
          <a:noFill/>
          <a:ln/>
        </p:spPr>
        <p:txBody>
          <a:bodyPr wrap="square" rtlCol="0" anchor="ctr"/>
          <a:lstStyle/>
          <a:p>
            <a:pPr algn="l" indent="0" marL="0">
              <a:lnSpc>
                <a:spcPts val="1400"/>
              </a:lnSpc>
              <a:buNone/>
            </a:pPr>
            <a:r>
              <a:rPr lang="en-US" sz="1000" dirty="0">
                <a:solidFill>
                  <a:srgbClr val="D8D5EE"/>
                </a:solidFill>
                <a:latin typeface="Calibri" pitchFamily="34" charset="0"/>
                <a:ea typeface="Calibri" pitchFamily="34" charset="-122"/>
                <a:cs typeface="Calibri" pitchFamily="34" charset="-120"/>
              </a:rPr>
              <a:t>Estimate radial &amp; tangential distortion coefficients (e.g., via a checkerboard calibration pattern) and undistort every frame before use.</a:t>
            </a:r>
            <a:endParaRPr lang="en-US" sz="1000" dirty="0"/>
          </a:p>
        </p:txBody>
      </p:sp>
      <p:sp>
        <p:nvSpPr>
          <p:cNvPr id="14" name="Shape 10"/>
          <p:cNvSpPr/>
          <p:nvPr/>
        </p:nvSpPr>
        <p:spPr>
          <a:xfrm>
            <a:off x="6309360" y="1737360"/>
            <a:ext cx="2606040" cy="3520440"/>
          </a:xfrm>
          <a:prstGeom prst="roundRect">
            <a:avLst>
              <a:gd name="adj" fmla="val 3158"/>
            </a:avLst>
          </a:prstGeom>
          <a:solidFill>
            <a:srgbClr val="2A2560"/>
          </a:solidFill>
          <a:ln/>
        </p:spPr>
      </p:sp>
      <p:sp>
        <p:nvSpPr>
          <p:cNvPr id="15" name="Shape 11"/>
          <p:cNvSpPr/>
          <p:nvPr/>
        </p:nvSpPr>
        <p:spPr>
          <a:xfrm>
            <a:off x="7269480" y="2057400"/>
            <a:ext cx="685800" cy="685800"/>
          </a:xfrm>
          <a:prstGeom prst="ellipse">
            <a:avLst/>
          </a:prstGeom>
          <a:solidFill>
            <a:srgbClr val="F4A259"/>
          </a:solidFill>
          <a:ln/>
        </p:spPr>
      </p:sp>
      <p:pic>
        <p:nvPicPr>
          <p:cNvPr id="16" name="Image 2" descr="/home/claude/ppt3/icons/target.png">    </p:cNvPr>
          <p:cNvPicPr>
            <a:picLocks noChangeAspect="1"/>
          </p:cNvPicPr>
          <p:nvPr/>
        </p:nvPicPr>
        <p:blipFill>
          <a:blip r:embed="rId3"/>
          <a:stretch>
            <a:fillRect/>
          </a:stretch>
        </p:blipFill>
        <p:spPr>
          <a:xfrm>
            <a:off x="7434072" y="2221992"/>
            <a:ext cx="356616" cy="356616"/>
          </a:xfrm>
          <a:prstGeom prst="rect">
            <a:avLst/>
          </a:prstGeom>
        </p:spPr>
      </p:pic>
      <p:sp>
        <p:nvSpPr>
          <p:cNvPr id="17" name="Text 12"/>
          <p:cNvSpPr/>
          <p:nvPr/>
        </p:nvSpPr>
        <p:spPr>
          <a:xfrm>
            <a:off x="6446520" y="2926080"/>
            <a:ext cx="2331720" cy="594360"/>
          </a:xfrm>
          <a:prstGeom prst="rect">
            <a:avLst/>
          </a:prstGeom>
          <a:noFill/>
          <a:ln/>
        </p:spPr>
        <p:txBody>
          <a:bodyPr wrap="square" rtlCol="0" anchor="ctr"/>
          <a:lstStyle/>
          <a:p>
            <a:pPr algn="ctr" indent="0" marL="0">
              <a:lnSpc>
                <a:spcPts val="1450"/>
              </a:lnSpc>
              <a:buNone/>
            </a:pPr>
            <a:r>
              <a:rPr lang="en-US" sz="1250" b="1" dirty="0">
                <a:solidFill>
                  <a:srgbClr val="FFFFFF"/>
                </a:solidFill>
                <a:latin typeface="Calibri" pitchFamily="34" charset="0"/>
                <a:ea typeface="Calibri" pitchFamily="34" charset="-122"/>
                <a:cs typeface="Calibri" pitchFamily="34" charset="-120"/>
              </a:rPr>
              <a:t>Shoot-Time Discipline</a:t>
            </a:r>
            <a:endParaRPr lang="en-US" sz="1250" dirty="0"/>
          </a:p>
        </p:txBody>
      </p:sp>
      <p:sp>
        <p:nvSpPr>
          <p:cNvPr id="18" name="Text 13"/>
          <p:cNvSpPr/>
          <p:nvPr/>
        </p:nvSpPr>
        <p:spPr>
          <a:xfrm>
            <a:off x="6510528" y="3611880"/>
            <a:ext cx="2203704" cy="1554480"/>
          </a:xfrm>
          <a:prstGeom prst="rect">
            <a:avLst/>
          </a:prstGeom>
          <a:noFill/>
          <a:ln/>
        </p:spPr>
        <p:txBody>
          <a:bodyPr wrap="square" rtlCol="0" anchor="ctr"/>
          <a:lstStyle/>
          <a:p>
            <a:pPr algn="l" indent="0" marL="0">
              <a:lnSpc>
                <a:spcPts val="1400"/>
              </a:lnSpc>
              <a:buNone/>
            </a:pPr>
            <a:r>
              <a:rPr lang="en-US" sz="1000" dirty="0">
                <a:solidFill>
                  <a:srgbClr val="D8D5EE"/>
                </a:solidFill>
                <a:latin typeface="Calibri" pitchFamily="34" charset="0"/>
                <a:ea typeface="Calibri" pitchFamily="34" charset="-122"/>
                <a:cs typeface="Calibri" pitchFamily="34" charset="-120"/>
              </a:rPr>
              <a:t>Increase camera distance and shooting angle awareness so the desired perspective is captured correctly, reducing reliance on post-processing.</a:t>
            </a:r>
            <a:endParaRPr lang="en-US" sz="1000" dirty="0"/>
          </a:p>
        </p:txBody>
      </p:sp>
      <p:sp>
        <p:nvSpPr>
          <p:cNvPr id="19" name="Shape 14"/>
          <p:cNvSpPr/>
          <p:nvPr/>
        </p:nvSpPr>
        <p:spPr>
          <a:xfrm>
            <a:off x="9144000" y="1737360"/>
            <a:ext cx="2606040" cy="3520440"/>
          </a:xfrm>
          <a:prstGeom prst="roundRect">
            <a:avLst>
              <a:gd name="adj" fmla="val 3158"/>
            </a:avLst>
          </a:prstGeom>
          <a:solidFill>
            <a:srgbClr val="2A2560"/>
          </a:solidFill>
          <a:ln/>
        </p:spPr>
      </p:sp>
      <p:sp>
        <p:nvSpPr>
          <p:cNvPr id="20" name="Shape 15"/>
          <p:cNvSpPr/>
          <p:nvPr/>
        </p:nvSpPr>
        <p:spPr>
          <a:xfrm>
            <a:off x="10104120" y="2057400"/>
            <a:ext cx="685800" cy="685800"/>
          </a:xfrm>
          <a:prstGeom prst="ellipse">
            <a:avLst/>
          </a:prstGeom>
          <a:solidFill>
            <a:srgbClr val="F4A259"/>
          </a:solidFill>
          <a:ln/>
        </p:spPr>
      </p:sp>
      <p:pic>
        <p:nvPicPr>
          <p:cNvPr id="21" name="Image 3" descr="/home/claude/ppt3/icons/cpu.png">    </p:cNvPr>
          <p:cNvPicPr>
            <a:picLocks noChangeAspect="1"/>
          </p:cNvPicPr>
          <p:nvPr/>
        </p:nvPicPr>
        <p:blipFill>
          <a:blip r:embed="rId4"/>
          <a:stretch>
            <a:fillRect/>
          </a:stretch>
        </p:blipFill>
        <p:spPr>
          <a:xfrm>
            <a:off x="10268712" y="2221992"/>
            <a:ext cx="356616" cy="356616"/>
          </a:xfrm>
          <a:prstGeom prst="rect">
            <a:avLst/>
          </a:prstGeom>
        </p:spPr>
      </p:pic>
      <p:sp>
        <p:nvSpPr>
          <p:cNvPr id="22" name="Text 16"/>
          <p:cNvSpPr/>
          <p:nvPr/>
        </p:nvSpPr>
        <p:spPr>
          <a:xfrm>
            <a:off x="9281160" y="2926080"/>
            <a:ext cx="2331720" cy="594360"/>
          </a:xfrm>
          <a:prstGeom prst="rect">
            <a:avLst/>
          </a:prstGeom>
          <a:noFill/>
          <a:ln/>
        </p:spPr>
        <p:txBody>
          <a:bodyPr wrap="square" rtlCol="0" anchor="ctr"/>
          <a:lstStyle/>
          <a:p>
            <a:pPr algn="ctr" indent="0" marL="0">
              <a:lnSpc>
                <a:spcPts val="1450"/>
              </a:lnSpc>
              <a:buNone/>
            </a:pPr>
            <a:r>
              <a:rPr lang="en-US" sz="1250" b="1" dirty="0">
                <a:solidFill>
                  <a:srgbClr val="FFFFFF"/>
                </a:solidFill>
                <a:latin typeface="Calibri" pitchFamily="34" charset="0"/>
                <a:ea typeface="Calibri" pitchFamily="34" charset="-122"/>
                <a:cs typeface="Calibri" pitchFamily="34" charset="-120"/>
              </a:rPr>
              <a:t>Model-Aware Pipelines</a:t>
            </a:r>
            <a:endParaRPr lang="en-US" sz="1250" dirty="0"/>
          </a:p>
        </p:txBody>
      </p:sp>
      <p:sp>
        <p:nvSpPr>
          <p:cNvPr id="23" name="Text 17"/>
          <p:cNvSpPr/>
          <p:nvPr/>
        </p:nvSpPr>
        <p:spPr>
          <a:xfrm>
            <a:off x="9345168" y="3611880"/>
            <a:ext cx="2203704" cy="1554480"/>
          </a:xfrm>
          <a:prstGeom prst="rect">
            <a:avLst/>
          </a:prstGeom>
          <a:noFill/>
          <a:ln/>
        </p:spPr>
        <p:txBody>
          <a:bodyPr wrap="square" rtlCol="0" anchor="ctr"/>
          <a:lstStyle/>
          <a:p>
            <a:pPr algn="l" indent="0" marL="0">
              <a:lnSpc>
                <a:spcPts val="1400"/>
              </a:lnSpc>
              <a:buNone/>
            </a:pPr>
            <a:r>
              <a:rPr lang="en-US" sz="1000" dirty="0">
                <a:solidFill>
                  <a:srgbClr val="D8D5EE"/>
                </a:solidFill>
                <a:latin typeface="Calibri" pitchFamily="34" charset="0"/>
                <a:ea typeface="Calibri" pitchFamily="34" charset="-122"/>
                <a:cs typeface="Calibri" pitchFamily="34" charset="-120"/>
              </a:rPr>
              <a:t>Downstream CV models can be trained or calibrated to be robust to residual distortion, or to explicitly use camera intrinsics.</a:t>
            </a:r>
            <a:endParaRPr lang="en-US" sz="1000" dirty="0"/>
          </a:p>
        </p:txBody>
      </p:sp>
      <p:sp>
        <p:nvSpPr>
          <p:cNvPr id="24" name="Shape 18"/>
          <p:cNvSpPr/>
          <p:nvPr/>
        </p:nvSpPr>
        <p:spPr>
          <a:xfrm>
            <a:off x="640080" y="5486400"/>
            <a:ext cx="10744200" cy="777240"/>
          </a:xfrm>
          <a:prstGeom prst="roundRect">
            <a:avLst>
              <a:gd name="adj" fmla="val 9412"/>
            </a:avLst>
          </a:prstGeom>
          <a:solidFill>
            <a:srgbClr val="2E2A5C"/>
          </a:solidFill>
          <a:ln/>
        </p:spPr>
      </p:sp>
      <p:sp>
        <p:nvSpPr>
          <p:cNvPr id="25" name="Text 19"/>
          <p:cNvSpPr/>
          <p:nvPr/>
        </p:nvSpPr>
        <p:spPr>
          <a:xfrm>
            <a:off x="914400" y="5486400"/>
            <a:ext cx="10241280" cy="77724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Principle: </a:t>
            </a:r>
            <a:pPr indent="0" marL="0">
              <a:buNone/>
            </a:pPr>
            <a:r>
              <a:rPr lang="en-US" sz="1350" dirty="0">
                <a:solidFill>
                  <a:srgbClr val="E3E1F4"/>
                </a:solidFill>
                <a:latin typeface="Calibri" pitchFamily="34" charset="0"/>
                <a:ea typeface="Calibri" pitchFamily="34" charset="-122"/>
                <a:cs typeface="Calibri" pitchFamily="34" charset="-120"/>
              </a:rPr>
              <a:t>correct at capture where possible; calibrate mathematically where you can't.</a:t>
            </a:r>
            <a:endParaRPr lang="en-US" sz="1350" dirty="0"/>
          </a:p>
        </p:txBody>
      </p:sp>
      <p:sp>
        <p:nvSpPr>
          <p:cNvPr id="26" name="Text 20"/>
          <p:cNvSpPr/>
          <p:nvPr/>
        </p:nvSpPr>
        <p:spPr>
          <a:xfrm>
            <a:off x="457200" y="6510528"/>
            <a:ext cx="7315200" cy="274320"/>
          </a:xfrm>
          <a:prstGeom prst="rect">
            <a:avLst/>
          </a:prstGeom>
          <a:noFill/>
          <a:ln/>
        </p:spPr>
        <p:txBody>
          <a:bodyPr wrap="square" rtlCol="0" anchor="ctr"/>
          <a:lstStyle/>
          <a:p>
            <a:pPr algn="l" indent="0" marL="0">
              <a:buNone/>
            </a:pPr>
            <a:r>
              <a:rPr lang="en-US" sz="900" dirty="0">
                <a:solidFill>
                  <a:srgbClr val="B3AEDC"/>
                </a:solidFill>
                <a:latin typeface="Calibri" pitchFamily="34" charset="0"/>
                <a:ea typeface="Calibri" pitchFamily="34" charset="-122"/>
                <a:cs typeface="Calibri" pitchFamily="34" charset="-120"/>
              </a:rPr>
              <a:t>Perspective Distortion in Real-World Images</a:t>
            </a:r>
            <a:endParaRPr lang="en-US" sz="900" dirty="0"/>
          </a:p>
        </p:txBody>
      </p:sp>
      <p:sp>
        <p:nvSpPr>
          <p:cNvPr id="27" name="Text 21"/>
          <p:cNvSpPr/>
          <p:nvPr/>
        </p:nvSpPr>
        <p:spPr>
          <a:xfrm>
            <a:off x="11338560" y="6510528"/>
            <a:ext cx="457200" cy="274320"/>
          </a:xfrm>
          <a:prstGeom prst="rect">
            <a:avLst/>
          </a:prstGeom>
          <a:noFill/>
          <a:ln/>
        </p:spPr>
        <p:txBody>
          <a:bodyPr wrap="square" rtlCol="0" anchor="ctr"/>
          <a:lstStyle/>
          <a:p>
            <a:pPr algn="r" indent="0" marL="0">
              <a:buNone/>
            </a:pPr>
            <a:r>
              <a:rPr lang="en-US" sz="900" dirty="0">
                <a:solidFill>
                  <a:srgbClr val="B3AED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515600" cy="548640"/>
          </a:xfrm>
          <a:prstGeom prst="rect">
            <a:avLst/>
          </a:prstGeom>
          <a:noFill/>
          <a:ln/>
        </p:spPr>
        <p:txBody>
          <a:bodyPr wrap="square" rtlCol="0" anchor="ctr"/>
          <a:lstStyle/>
          <a:p>
            <a:pPr indent="0" marL="0">
              <a:buNone/>
            </a:pPr>
            <a:r>
              <a:rPr lang="en-US" sz="2700" b="1" dirty="0">
                <a:solidFill>
                  <a:srgbClr val="1F2333"/>
                </a:solidFill>
                <a:latin typeface="Cambria" pitchFamily="34" charset="0"/>
                <a:ea typeface="Cambria" pitchFamily="34" charset="-122"/>
                <a:cs typeface="Cambria" pitchFamily="34" charset="-120"/>
              </a:rPr>
              <a:t>Why This Matters Beyond Photography</a:t>
            </a:r>
            <a:endParaRPr lang="en-US" sz="2700" dirty="0"/>
          </a:p>
        </p:txBody>
      </p:sp>
      <p:sp>
        <p:nvSpPr>
          <p:cNvPr id="3" name="Text 1"/>
          <p:cNvSpPr/>
          <p:nvPr/>
        </p:nvSpPr>
        <p:spPr>
          <a:xfrm>
            <a:off x="640080" y="1005840"/>
            <a:ext cx="10058400" cy="365760"/>
          </a:xfrm>
          <a:prstGeom prst="rect">
            <a:avLst/>
          </a:prstGeom>
          <a:noFill/>
          <a:ln/>
        </p:spPr>
        <p:txBody>
          <a:bodyPr wrap="square" rtlCol="0" anchor="ctr"/>
          <a:lstStyle/>
          <a:p>
            <a:pPr indent="0" marL="0">
              <a:buNone/>
            </a:pPr>
            <a:r>
              <a:rPr lang="en-US" sz="1300" dirty="0">
                <a:solidFill>
                  <a:srgbClr val="6A6E82"/>
                </a:solidFill>
                <a:latin typeface="Calibri" pitchFamily="34" charset="0"/>
                <a:ea typeface="Calibri" pitchFamily="34" charset="-122"/>
                <a:cs typeface="Calibri" pitchFamily="34" charset="-120"/>
              </a:rPr>
              <a:t>Perspective-aware correction is foundational to many CV systems</a:t>
            </a:r>
            <a:endParaRPr lang="en-US" sz="1300" dirty="0"/>
          </a:p>
        </p:txBody>
      </p:sp>
      <p:sp>
        <p:nvSpPr>
          <p:cNvPr id="4" name="Shape 2"/>
          <p:cNvSpPr/>
          <p:nvPr/>
        </p:nvSpPr>
        <p:spPr>
          <a:xfrm>
            <a:off x="640080" y="1737360"/>
            <a:ext cx="3429000" cy="2743200"/>
          </a:xfrm>
          <a:prstGeom prst="roundRect">
            <a:avLst>
              <a:gd name="adj" fmla="val 3000"/>
            </a:avLst>
          </a:prstGeom>
          <a:solidFill>
            <a:srgbClr val="F3F2F9"/>
          </a:solidFill>
          <a:ln/>
        </p:spPr>
      </p:sp>
      <p:sp>
        <p:nvSpPr>
          <p:cNvPr id="5" name="Shape 3"/>
          <p:cNvSpPr/>
          <p:nvPr/>
        </p:nvSpPr>
        <p:spPr>
          <a:xfrm>
            <a:off x="2011680" y="2057400"/>
            <a:ext cx="685800" cy="685800"/>
          </a:xfrm>
          <a:prstGeom prst="ellipse">
            <a:avLst/>
          </a:prstGeom>
          <a:solidFill>
            <a:srgbClr val="5B57A3"/>
          </a:solidFill>
          <a:ln/>
        </p:spPr>
      </p:sp>
      <p:pic>
        <p:nvPicPr>
          <p:cNvPr id="6" name="Image 0" descr="/home/claude/ppt3/icons/home.png">    </p:cNvPr>
          <p:cNvPicPr>
            <a:picLocks noChangeAspect="1"/>
          </p:cNvPicPr>
          <p:nvPr/>
        </p:nvPicPr>
        <p:blipFill>
          <a:blip r:embed="rId1"/>
          <a:stretch>
            <a:fillRect/>
          </a:stretch>
        </p:blipFill>
        <p:spPr>
          <a:xfrm>
            <a:off x="2176272" y="2221992"/>
            <a:ext cx="356616" cy="356616"/>
          </a:xfrm>
          <a:prstGeom prst="rect">
            <a:avLst/>
          </a:prstGeom>
        </p:spPr>
      </p:pic>
      <p:sp>
        <p:nvSpPr>
          <p:cNvPr id="7" name="Text 4"/>
          <p:cNvSpPr/>
          <p:nvPr/>
        </p:nvSpPr>
        <p:spPr>
          <a:xfrm>
            <a:off x="822960" y="2926080"/>
            <a:ext cx="3063240" cy="594360"/>
          </a:xfrm>
          <a:prstGeom prst="rect">
            <a:avLst/>
          </a:prstGeom>
          <a:noFill/>
          <a:ln/>
        </p:spPr>
        <p:txBody>
          <a:bodyPr wrap="square" rtlCol="0" anchor="ctr"/>
          <a:lstStyle/>
          <a:p>
            <a:pPr algn="ctr" indent="0" marL="0">
              <a:lnSpc>
                <a:spcPts val="1500"/>
              </a:lnSpc>
              <a:buNone/>
            </a:pPr>
            <a:r>
              <a:rPr lang="en-US" sz="1350" b="1" dirty="0">
                <a:solidFill>
                  <a:srgbClr val="1F2333"/>
                </a:solidFill>
                <a:latin typeface="Calibri" pitchFamily="34" charset="0"/>
                <a:ea typeface="Calibri" pitchFamily="34" charset="-122"/>
                <a:cs typeface="Calibri" pitchFamily="34" charset="-120"/>
              </a:rPr>
              <a:t>Architecture &amp; Real Estate</a:t>
            </a:r>
            <a:endParaRPr lang="en-US" sz="1350" dirty="0"/>
          </a:p>
        </p:txBody>
      </p:sp>
      <p:sp>
        <p:nvSpPr>
          <p:cNvPr id="8" name="Text 5"/>
          <p:cNvSpPr/>
          <p:nvPr/>
        </p:nvSpPr>
        <p:spPr>
          <a:xfrm>
            <a:off x="868680" y="3566160"/>
            <a:ext cx="2971800" cy="868680"/>
          </a:xfrm>
          <a:prstGeom prst="rect">
            <a:avLst/>
          </a:prstGeom>
          <a:noFill/>
          <a:ln/>
        </p:spPr>
        <p:txBody>
          <a:bodyPr wrap="square" rtlCol="0" anchor="ctr"/>
          <a:lstStyle/>
          <a:p>
            <a:pPr algn="l" indent="0" marL="0">
              <a:lnSpc>
                <a:spcPts val="1450"/>
              </a:lnSpc>
              <a:buNone/>
            </a:pPr>
            <a:r>
              <a:rPr lang="en-US" sz="1050" dirty="0">
                <a:solidFill>
                  <a:srgbClr val="1F2333"/>
                </a:solidFill>
                <a:latin typeface="Calibri" pitchFamily="34" charset="0"/>
                <a:ea typeface="Calibri" pitchFamily="34" charset="-122"/>
                <a:cs typeface="Calibri" pitchFamily="34" charset="-120"/>
              </a:rPr>
              <a:t>Corrected verticals are essential for professional, measurement-accurate property and building photography.</a:t>
            </a:r>
            <a:endParaRPr lang="en-US" sz="1050" dirty="0"/>
          </a:p>
        </p:txBody>
      </p:sp>
      <p:sp>
        <p:nvSpPr>
          <p:cNvPr id="9" name="Shape 6"/>
          <p:cNvSpPr/>
          <p:nvPr/>
        </p:nvSpPr>
        <p:spPr>
          <a:xfrm>
            <a:off x="4343400" y="1737360"/>
            <a:ext cx="3429000" cy="2743200"/>
          </a:xfrm>
          <a:prstGeom prst="roundRect">
            <a:avLst>
              <a:gd name="adj" fmla="val 3000"/>
            </a:avLst>
          </a:prstGeom>
          <a:solidFill>
            <a:srgbClr val="F3F2F9"/>
          </a:solidFill>
          <a:ln/>
        </p:spPr>
      </p:sp>
      <p:sp>
        <p:nvSpPr>
          <p:cNvPr id="10" name="Shape 7"/>
          <p:cNvSpPr/>
          <p:nvPr/>
        </p:nvSpPr>
        <p:spPr>
          <a:xfrm>
            <a:off x="5715000" y="2057400"/>
            <a:ext cx="685800" cy="685800"/>
          </a:xfrm>
          <a:prstGeom prst="ellipse">
            <a:avLst/>
          </a:prstGeom>
          <a:solidFill>
            <a:srgbClr val="5B57A3"/>
          </a:solidFill>
          <a:ln/>
        </p:spPr>
      </p:sp>
      <p:pic>
        <p:nvPicPr>
          <p:cNvPr id="11" name="Image 1" descr="/home/claude/ppt3/icons/cpu.png">    </p:cNvPr>
          <p:cNvPicPr>
            <a:picLocks noChangeAspect="1"/>
          </p:cNvPicPr>
          <p:nvPr/>
        </p:nvPicPr>
        <p:blipFill>
          <a:blip r:embed="rId2"/>
          <a:stretch>
            <a:fillRect/>
          </a:stretch>
        </p:blipFill>
        <p:spPr>
          <a:xfrm>
            <a:off x="5879592" y="2221992"/>
            <a:ext cx="356616" cy="356616"/>
          </a:xfrm>
          <a:prstGeom prst="rect">
            <a:avLst/>
          </a:prstGeom>
        </p:spPr>
      </p:pic>
      <p:sp>
        <p:nvSpPr>
          <p:cNvPr id="12" name="Text 8"/>
          <p:cNvSpPr/>
          <p:nvPr/>
        </p:nvSpPr>
        <p:spPr>
          <a:xfrm>
            <a:off x="4526280" y="2926080"/>
            <a:ext cx="3063240" cy="594360"/>
          </a:xfrm>
          <a:prstGeom prst="rect">
            <a:avLst/>
          </a:prstGeom>
          <a:noFill/>
          <a:ln/>
        </p:spPr>
        <p:txBody>
          <a:bodyPr wrap="square" rtlCol="0" anchor="ctr"/>
          <a:lstStyle/>
          <a:p>
            <a:pPr algn="ctr" indent="0" marL="0">
              <a:lnSpc>
                <a:spcPts val="1500"/>
              </a:lnSpc>
              <a:buNone/>
            </a:pPr>
            <a:r>
              <a:rPr lang="en-US" sz="1350" b="1" dirty="0">
                <a:solidFill>
                  <a:srgbClr val="1F2333"/>
                </a:solidFill>
                <a:latin typeface="Calibri" pitchFamily="34" charset="0"/>
                <a:ea typeface="Calibri" pitchFamily="34" charset="-122"/>
                <a:cs typeface="Calibri" pitchFamily="34" charset="-120"/>
              </a:rPr>
              <a:t>Autonomous Vehicles</a:t>
            </a:r>
            <a:endParaRPr lang="en-US" sz="1350" dirty="0"/>
          </a:p>
        </p:txBody>
      </p:sp>
      <p:sp>
        <p:nvSpPr>
          <p:cNvPr id="13" name="Text 9"/>
          <p:cNvSpPr/>
          <p:nvPr/>
        </p:nvSpPr>
        <p:spPr>
          <a:xfrm>
            <a:off x="4572000" y="3566160"/>
            <a:ext cx="2971800" cy="868680"/>
          </a:xfrm>
          <a:prstGeom prst="rect">
            <a:avLst/>
          </a:prstGeom>
          <a:noFill/>
          <a:ln/>
        </p:spPr>
        <p:txBody>
          <a:bodyPr wrap="square" rtlCol="0" anchor="ctr"/>
          <a:lstStyle/>
          <a:p>
            <a:pPr algn="l" indent="0" marL="0">
              <a:lnSpc>
                <a:spcPts val="1450"/>
              </a:lnSpc>
              <a:buNone/>
            </a:pPr>
            <a:r>
              <a:rPr lang="en-US" sz="1050" dirty="0">
                <a:solidFill>
                  <a:srgbClr val="1F2333"/>
                </a:solidFill>
                <a:latin typeface="Calibri" pitchFamily="34" charset="0"/>
                <a:ea typeface="Calibri" pitchFamily="34" charset="-122"/>
                <a:cs typeface="Calibri" pitchFamily="34" charset="-120"/>
              </a:rPr>
              <a:t>Camera calibration removes lens distortion before perception models estimate distances and lane geometry.</a:t>
            </a:r>
            <a:endParaRPr lang="en-US" sz="1050" dirty="0"/>
          </a:p>
        </p:txBody>
      </p:sp>
      <p:sp>
        <p:nvSpPr>
          <p:cNvPr id="14" name="Shape 10"/>
          <p:cNvSpPr/>
          <p:nvPr/>
        </p:nvSpPr>
        <p:spPr>
          <a:xfrm>
            <a:off x="8046720" y="1737360"/>
            <a:ext cx="3429000" cy="2743200"/>
          </a:xfrm>
          <a:prstGeom prst="roundRect">
            <a:avLst>
              <a:gd name="adj" fmla="val 3000"/>
            </a:avLst>
          </a:prstGeom>
          <a:solidFill>
            <a:srgbClr val="F3F2F9"/>
          </a:solidFill>
          <a:ln/>
        </p:spPr>
      </p:sp>
      <p:sp>
        <p:nvSpPr>
          <p:cNvPr id="15" name="Shape 11"/>
          <p:cNvSpPr/>
          <p:nvPr/>
        </p:nvSpPr>
        <p:spPr>
          <a:xfrm>
            <a:off x="9418320" y="2057400"/>
            <a:ext cx="685800" cy="685800"/>
          </a:xfrm>
          <a:prstGeom prst="ellipse">
            <a:avLst/>
          </a:prstGeom>
          <a:solidFill>
            <a:srgbClr val="5B57A3"/>
          </a:solidFill>
          <a:ln/>
        </p:spPr>
      </p:sp>
      <p:pic>
        <p:nvPicPr>
          <p:cNvPr id="16" name="Image 2" descr="/home/claude/ppt3/icons/grid.png">    </p:cNvPr>
          <p:cNvPicPr>
            <a:picLocks noChangeAspect="1"/>
          </p:cNvPicPr>
          <p:nvPr/>
        </p:nvPicPr>
        <p:blipFill>
          <a:blip r:embed="rId3"/>
          <a:stretch>
            <a:fillRect/>
          </a:stretch>
        </p:blipFill>
        <p:spPr>
          <a:xfrm>
            <a:off x="9582912" y="2221992"/>
            <a:ext cx="356616" cy="356616"/>
          </a:xfrm>
          <a:prstGeom prst="rect">
            <a:avLst/>
          </a:prstGeom>
        </p:spPr>
      </p:pic>
      <p:sp>
        <p:nvSpPr>
          <p:cNvPr id="17" name="Text 12"/>
          <p:cNvSpPr/>
          <p:nvPr/>
        </p:nvSpPr>
        <p:spPr>
          <a:xfrm>
            <a:off x="8229600" y="2926080"/>
            <a:ext cx="3063240" cy="594360"/>
          </a:xfrm>
          <a:prstGeom prst="rect">
            <a:avLst/>
          </a:prstGeom>
          <a:noFill/>
          <a:ln/>
        </p:spPr>
        <p:txBody>
          <a:bodyPr wrap="square" rtlCol="0" anchor="ctr"/>
          <a:lstStyle/>
          <a:p>
            <a:pPr algn="ctr" indent="0" marL="0">
              <a:lnSpc>
                <a:spcPts val="1500"/>
              </a:lnSpc>
              <a:buNone/>
            </a:pPr>
            <a:r>
              <a:rPr lang="en-US" sz="1350" b="1" dirty="0">
                <a:solidFill>
                  <a:srgbClr val="1F2333"/>
                </a:solidFill>
                <a:latin typeface="Calibri" pitchFamily="34" charset="0"/>
                <a:ea typeface="Calibri" pitchFamily="34" charset="-122"/>
                <a:cs typeface="Calibri" pitchFamily="34" charset="-120"/>
              </a:rPr>
              <a:t>AR / VR &amp; 3D Reconstruction</a:t>
            </a:r>
            <a:endParaRPr lang="en-US" sz="1350" dirty="0"/>
          </a:p>
        </p:txBody>
      </p:sp>
      <p:sp>
        <p:nvSpPr>
          <p:cNvPr id="18" name="Text 13"/>
          <p:cNvSpPr/>
          <p:nvPr/>
        </p:nvSpPr>
        <p:spPr>
          <a:xfrm>
            <a:off x="8275320" y="3566160"/>
            <a:ext cx="2971800" cy="868680"/>
          </a:xfrm>
          <a:prstGeom prst="rect">
            <a:avLst/>
          </a:prstGeom>
          <a:noFill/>
          <a:ln/>
        </p:spPr>
        <p:txBody>
          <a:bodyPr wrap="square" rtlCol="0" anchor="ctr"/>
          <a:lstStyle/>
          <a:p>
            <a:pPr algn="l" indent="0" marL="0">
              <a:lnSpc>
                <a:spcPts val="1450"/>
              </a:lnSpc>
              <a:buNone/>
            </a:pPr>
            <a:r>
              <a:rPr lang="en-US" sz="1050" dirty="0">
                <a:solidFill>
                  <a:srgbClr val="1F2333"/>
                </a:solidFill>
                <a:latin typeface="Calibri" pitchFamily="34" charset="0"/>
                <a:ea typeface="Calibri" pitchFamily="34" charset="-122"/>
                <a:cs typeface="Calibri" pitchFamily="34" charset="-120"/>
              </a:rPr>
              <a:t>Accurate undistortion is a prerequisite for mapping 2D pixels back to consistent 3D coordinates.</a:t>
            </a:r>
            <a:endParaRPr lang="en-US" sz="1050" dirty="0"/>
          </a:p>
        </p:txBody>
      </p:sp>
      <p:sp>
        <p:nvSpPr>
          <p:cNvPr id="19" name="Shape 14"/>
          <p:cNvSpPr/>
          <p:nvPr/>
        </p:nvSpPr>
        <p:spPr>
          <a:xfrm>
            <a:off x="640080" y="4800600"/>
            <a:ext cx="10744200" cy="1371600"/>
          </a:xfrm>
          <a:prstGeom prst="roundRect">
            <a:avLst>
              <a:gd name="adj" fmla="val 5333"/>
            </a:avLst>
          </a:prstGeom>
          <a:solidFill>
            <a:srgbClr val="1A1740"/>
          </a:solidFill>
          <a:ln/>
        </p:spPr>
      </p:sp>
      <p:sp>
        <p:nvSpPr>
          <p:cNvPr id="20" name="Text 15"/>
          <p:cNvSpPr/>
          <p:nvPr/>
        </p:nvSpPr>
        <p:spPr>
          <a:xfrm>
            <a:off x="914400" y="4800600"/>
            <a:ext cx="10241280" cy="1371600"/>
          </a:xfrm>
          <a:prstGeom prst="rect">
            <a:avLst/>
          </a:prstGeom>
          <a:noFill/>
          <a:ln/>
        </p:spPr>
        <p:txBody>
          <a:bodyPr wrap="square" rtlCol="0" anchor="ctr"/>
          <a:lstStyle/>
          <a:p>
            <a:pPr indent="0" marL="0">
              <a:lnSpc>
                <a:spcPts val="1800"/>
              </a:lnSpc>
              <a:buNone/>
            </a:pPr>
            <a:r>
              <a:rPr lang="en-US" sz="1300" b="1" dirty="0">
                <a:solidFill>
                  <a:srgbClr val="F4A259"/>
                </a:solidFill>
                <a:latin typeface="Calibri" pitchFamily="34" charset="0"/>
                <a:ea typeface="Calibri" pitchFamily="34" charset="-122"/>
                <a:cs typeface="Calibri" pitchFamily="34" charset="-120"/>
              </a:rPr>
              <a:t>Outlook: </a:t>
            </a:r>
            <a:pPr indent="0" marL="0">
              <a:lnSpc>
                <a:spcPts val="1800"/>
              </a:lnSpc>
              <a:buNone/>
            </a:pPr>
            <a:r>
              <a:rPr lang="en-US" sz="1300" dirty="0">
                <a:solidFill>
                  <a:srgbClr val="E3E1F4"/>
                </a:solidFill>
                <a:latin typeface="Calibri" pitchFamily="34" charset="0"/>
                <a:ea typeface="Calibri" pitchFamily="34" charset="-122"/>
                <a:cs typeface="Calibri" pitchFamily="34" charset="-120"/>
              </a:rPr>
              <a:t>as vision systems increasingly stitch, measure, and reconstruct from images, treating perspective distortion as a first-class, correctable signal — not a cosmetic flaw — is central to reliable results.</a:t>
            </a:r>
            <a:endParaRPr lang="en-US" sz="1300" dirty="0"/>
          </a:p>
        </p:txBody>
      </p:sp>
      <p:sp>
        <p:nvSpPr>
          <p:cNvPr id="21" name="Text 16"/>
          <p:cNvSpPr/>
          <p:nvPr/>
        </p:nvSpPr>
        <p:spPr>
          <a:xfrm>
            <a:off x="457200" y="6510528"/>
            <a:ext cx="7315200" cy="274320"/>
          </a:xfrm>
          <a:prstGeom prst="rect">
            <a:avLst/>
          </a:prstGeom>
          <a:noFill/>
          <a:ln/>
        </p:spPr>
        <p:txBody>
          <a:bodyPr wrap="square" rtlCol="0" anchor="ctr"/>
          <a:lstStyle/>
          <a:p>
            <a:pPr algn="l" indent="0" marL="0">
              <a:buNone/>
            </a:pPr>
            <a:r>
              <a:rPr lang="en-US" sz="900" dirty="0">
                <a:solidFill>
                  <a:srgbClr val="6A6E82"/>
                </a:solidFill>
                <a:latin typeface="Calibri" pitchFamily="34" charset="0"/>
                <a:ea typeface="Calibri" pitchFamily="34" charset="-122"/>
                <a:cs typeface="Calibri" pitchFamily="34" charset="-120"/>
              </a:rPr>
              <a:t>Perspective Distortion in Real-World Images</a:t>
            </a:r>
            <a:endParaRPr lang="en-US" sz="900" dirty="0"/>
          </a:p>
        </p:txBody>
      </p:sp>
      <p:sp>
        <p:nvSpPr>
          <p:cNvPr id="22" name="Text 17"/>
          <p:cNvSpPr/>
          <p:nvPr/>
        </p:nvSpPr>
        <p:spPr>
          <a:xfrm>
            <a:off x="11338560" y="6510528"/>
            <a:ext cx="457200" cy="274320"/>
          </a:xfrm>
          <a:prstGeom prst="rect">
            <a:avLst/>
          </a:prstGeom>
          <a:noFill/>
          <a:ln/>
        </p:spPr>
        <p:txBody>
          <a:bodyPr wrap="square" rtlCol="0" anchor="ctr"/>
          <a:lstStyle/>
          <a:p>
            <a:pPr algn="r" indent="0" marL="0">
              <a:buNone/>
            </a:pPr>
            <a:r>
              <a:rPr lang="en-US" sz="900" dirty="0">
                <a:solidFill>
                  <a:srgbClr val="6A6E8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740"/>
        </a:solidFill>
      </p:bgPr>
    </p:bg>
    <p:spTree>
      <p:nvGrpSpPr>
        <p:cNvPr id="1" name=""/>
        <p:cNvGrpSpPr/>
        <p:nvPr/>
      </p:nvGrpSpPr>
      <p:grpSpPr>
        <a:xfrm>
          <a:off x="0" y="0"/>
          <a:ext cx="0" cy="0"/>
          <a:chOff x="0" y="0"/>
          <a:chExt cx="0" cy="0"/>
        </a:xfrm>
      </p:grpSpPr>
      <p:sp>
        <p:nvSpPr>
          <p:cNvPr id="2" name="Shape 0"/>
          <p:cNvSpPr/>
          <p:nvPr/>
        </p:nvSpPr>
        <p:spPr>
          <a:xfrm>
            <a:off x="-1097280" y="4389120"/>
            <a:ext cx="3840480" cy="3840480"/>
          </a:xfrm>
          <a:prstGeom prst="ellipse">
            <a:avLst/>
          </a:prstGeom>
          <a:solidFill>
            <a:srgbClr val="2E2A5C">
              <a:alpha val="60000"/>
            </a:srgbClr>
          </a:solidFill>
          <a:ln/>
        </p:spPr>
      </p:sp>
      <p:sp>
        <p:nvSpPr>
          <p:cNvPr id="3" name="Text 1"/>
          <p:cNvSpPr/>
          <p:nvPr/>
        </p:nvSpPr>
        <p:spPr>
          <a:xfrm>
            <a:off x="640080" y="640080"/>
            <a:ext cx="7315200" cy="64008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Key Takeaways</a:t>
            </a:r>
            <a:endParaRPr lang="en-US" sz="3400" dirty="0"/>
          </a:p>
        </p:txBody>
      </p:sp>
      <p:sp>
        <p:nvSpPr>
          <p:cNvPr id="4" name="Shape 2"/>
          <p:cNvSpPr/>
          <p:nvPr/>
        </p:nvSpPr>
        <p:spPr>
          <a:xfrm>
            <a:off x="640080" y="1600200"/>
            <a:ext cx="457200" cy="457200"/>
          </a:xfrm>
          <a:prstGeom prst="ellipse">
            <a:avLst/>
          </a:prstGeom>
          <a:solidFill>
            <a:srgbClr val="F4A259"/>
          </a:solidFill>
          <a:ln/>
        </p:spPr>
      </p:sp>
      <p:pic>
        <p:nvPicPr>
          <p:cNvPr id="5" name="Image 0" descr="/home/claude/ppt3/icons/check.png">    </p:cNvPr>
          <p:cNvPicPr>
            <a:picLocks noChangeAspect="1"/>
          </p:cNvPicPr>
          <p:nvPr/>
        </p:nvPicPr>
        <p:blipFill>
          <a:blip r:embed="rId1"/>
          <a:stretch>
            <a:fillRect/>
          </a:stretch>
        </p:blipFill>
        <p:spPr>
          <a:xfrm>
            <a:off x="749808" y="1709928"/>
            <a:ext cx="237744" cy="237744"/>
          </a:xfrm>
          <a:prstGeom prst="rect">
            <a:avLst/>
          </a:prstGeom>
        </p:spPr>
      </p:pic>
      <p:sp>
        <p:nvSpPr>
          <p:cNvPr id="6" name="Text 3"/>
          <p:cNvSpPr/>
          <p:nvPr/>
        </p:nvSpPr>
        <p:spPr>
          <a:xfrm>
            <a:off x="1280160" y="1554480"/>
            <a:ext cx="9692640" cy="685800"/>
          </a:xfrm>
          <a:prstGeom prst="rect">
            <a:avLst/>
          </a:prstGeom>
          <a:noFill/>
          <a:ln/>
        </p:spPr>
        <p:txBody>
          <a:bodyPr wrap="square" rtlCol="0" anchor="ctr"/>
          <a:lstStyle/>
          <a:p>
            <a:pPr indent="0" marL="0">
              <a:lnSpc>
                <a:spcPts val="1700"/>
              </a:lnSpc>
              <a:buNone/>
            </a:pPr>
            <a:r>
              <a:rPr lang="en-US" sz="1400" dirty="0">
                <a:solidFill>
                  <a:srgbClr val="FFFFFF"/>
                </a:solidFill>
                <a:latin typeface="Calibri" pitchFamily="34" charset="0"/>
                <a:ea typeface="Calibri" pitchFamily="34" charset="-122"/>
                <a:cs typeface="Calibri" pitchFamily="34" charset="-120"/>
              </a:rPr>
              <a:t>Perspective distortion comes from two independent sources: viewpoint geometry (keystone, compression) and lens optics (barrel, pincushion).</a:t>
            </a:r>
            <a:endParaRPr lang="en-US" sz="1400" dirty="0"/>
          </a:p>
        </p:txBody>
      </p:sp>
      <p:sp>
        <p:nvSpPr>
          <p:cNvPr id="7" name="Shape 4"/>
          <p:cNvSpPr/>
          <p:nvPr/>
        </p:nvSpPr>
        <p:spPr>
          <a:xfrm>
            <a:off x="640080" y="2514600"/>
            <a:ext cx="457200" cy="457200"/>
          </a:xfrm>
          <a:prstGeom prst="ellipse">
            <a:avLst/>
          </a:prstGeom>
          <a:solidFill>
            <a:srgbClr val="F4A259"/>
          </a:solidFill>
          <a:ln/>
        </p:spPr>
      </p:sp>
      <p:pic>
        <p:nvPicPr>
          <p:cNvPr id="8" name="Image 1" descr="/home/claude/ppt3/icons/check.png">    </p:cNvPr>
          <p:cNvPicPr>
            <a:picLocks noChangeAspect="1"/>
          </p:cNvPicPr>
          <p:nvPr/>
        </p:nvPicPr>
        <p:blipFill>
          <a:blip r:embed="rId2"/>
          <a:stretch>
            <a:fillRect/>
          </a:stretch>
        </p:blipFill>
        <p:spPr>
          <a:xfrm>
            <a:off x="749808" y="2624328"/>
            <a:ext cx="237744" cy="237744"/>
          </a:xfrm>
          <a:prstGeom prst="rect">
            <a:avLst/>
          </a:prstGeom>
        </p:spPr>
      </p:pic>
      <p:sp>
        <p:nvSpPr>
          <p:cNvPr id="9" name="Text 5"/>
          <p:cNvSpPr/>
          <p:nvPr/>
        </p:nvSpPr>
        <p:spPr>
          <a:xfrm>
            <a:off x="1280160" y="2468880"/>
            <a:ext cx="9692640" cy="685800"/>
          </a:xfrm>
          <a:prstGeom prst="rect">
            <a:avLst/>
          </a:prstGeom>
          <a:noFill/>
          <a:ln/>
        </p:spPr>
        <p:txBody>
          <a:bodyPr wrap="square" rtlCol="0" anchor="ctr"/>
          <a:lstStyle/>
          <a:p>
            <a:pPr indent="0" marL="0">
              <a:lnSpc>
                <a:spcPts val="1700"/>
              </a:lnSpc>
              <a:buNone/>
            </a:pPr>
            <a:r>
              <a:rPr lang="en-US" sz="1400" dirty="0">
                <a:solidFill>
                  <a:srgbClr val="FFFFFF"/>
                </a:solidFill>
                <a:latin typeface="Calibri" pitchFamily="34" charset="0"/>
                <a:ea typeface="Calibri" pitchFamily="34" charset="-122"/>
                <a:cs typeface="Calibri" pitchFamily="34" charset="-120"/>
              </a:rPr>
              <a:t>Each type has a distinct, recognizable visual signature — converging lines, bowed grids, or squeezed depth.</a:t>
            </a:r>
            <a:endParaRPr lang="en-US" sz="1400" dirty="0"/>
          </a:p>
        </p:txBody>
      </p:sp>
      <p:sp>
        <p:nvSpPr>
          <p:cNvPr id="10" name="Shape 6"/>
          <p:cNvSpPr/>
          <p:nvPr/>
        </p:nvSpPr>
        <p:spPr>
          <a:xfrm>
            <a:off x="640080" y="3429000"/>
            <a:ext cx="457200" cy="457200"/>
          </a:xfrm>
          <a:prstGeom prst="ellipse">
            <a:avLst/>
          </a:prstGeom>
          <a:solidFill>
            <a:srgbClr val="F4A259"/>
          </a:solidFill>
          <a:ln/>
        </p:spPr>
      </p:sp>
      <p:pic>
        <p:nvPicPr>
          <p:cNvPr id="11" name="Image 2" descr="/home/claude/ppt3/icons/check.png">    </p:cNvPr>
          <p:cNvPicPr>
            <a:picLocks noChangeAspect="1"/>
          </p:cNvPicPr>
          <p:nvPr/>
        </p:nvPicPr>
        <p:blipFill>
          <a:blip r:embed="rId3"/>
          <a:stretch>
            <a:fillRect/>
          </a:stretch>
        </p:blipFill>
        <p:spPr>
          <a:xfrm>
            <a:off x="749808" y="3538728"/>
            <a:ext cx="237744" cy="237744"/>
          </a:xfrm>
          <a:prstGeom prst="rect">
            <a:avLst/>
          </a:prstGeom>
        </p:spPr>
      </p:pic>
      <p:sp>
        <p:nvSpPr>
          <p:cNvPr id="12" name="Text 7"/>
          <p:cNvSpPr/>
          <p:nvPr/>
        </p:nvSpPr>
        <p:spPr>
          <a:xfrm>
            <a:off x="1280160" y="3383280"/>
            <a:ext cx="9692640" cy="685800"/>
          </a:xfrm>
          <a:prstGeom prst="rect">
            <a:avLst/>
          </a:prstGeom>
          <a:noFill/>
          <a:ln/>
        </p:spPr>
        <p:txBody>
          <a:bodyPr wrap="square" rtlCol="0" anchor="ctr"/>
          <a:lstStyle/>
          <a:p>
            <a:pPr indent="0" marL="0">
              <a:lnSpc>
                <a:spcPts val="1700"/>
              </a:lnSpc>
              <a:buNone/>
            </a:pPr>
            <a:r>
              <a:rPr lang="en-US" sz="1400" dirty="0">
                <a:solidFill>
                  <a:srgbClr val="FFFFFF"/>
                </a:solidFill>
                <a:latin typeface="Calibri" pitchFamily="34" charset="0"/>
                <a:ea typeface="Calibri" pitchFamily="34" charset="-122"/>
                <a:cs typeface="Calibri" pitchFamily="34" charset="-120"/>
              </a:rPr>
              <a:t>Root causes trace to camera angle, focal length, lens geometry, and subject distance — all measurable and controllable.</a:t>
            </a:r>
            <a:endParaRPr lang="en-US" sz="1400" dirty="0"/>
          </a:p>
        </p:txBody>
      </p:sp>
      <p:sp>
        <p:nvSpPr>
          <p:cNvPr id="13" name="Shape 8"/>
          <p:cNvSpPr/>
          <p:nvPr/>
        </p:nvSpPr>
        <p:spPr>
          <a:xfrm>
            <a:off x="640080" y="4343400"/>
            <a:ext cx="457200" cy="457200"/>
          </a:xfrm>
          <a:prstGeom prst="ellipse">
            <a:avLst/>
          </a:prstGeom>
          <a:solidFill>
            <a:srgbClr val="F4A259"/>
          </a:solidFill>
          <a:ln/>
        </p:spPr>
      </p:sp>
      <p:pic>
        <p:nvPicPr>
          <p:cNvPr id="14" name="Image 3" descr="/home/claude/ppt3/icons/check.png">    </p:cNvPr>
          <p:cNvPicPr>
            <a:picLocks noChangeAspect="1"/>
          </p:cNvPicPr>
          <p:nvPr/>
        </p:nvPicPr>
        <p:blipFill>
          <a:blip r:embed="rId4"/>
          <a:stretch>
            <a:fillRect/>
          </a:stretch>
        </p:blipFill>
        <p:spPr>
          <a:xfrm>
            <a:off x="749808" y="4453128"/>
            <a:ext cx="237744" cy="237744"/>
          </a:xfrm>
          <a:prstGeom prst="rect">
            <a:avLst/>
          </a:prstGeom>
        </p:spPr>
      </p:pic>
      <p:sp>
        <p:nvSpPr>
          <p:cNvPr id="15" name="Text 9"/>
          <p:cNvSpPr/>
          <p:nvPr/>
        </p:nvSpPr>
        <p:spPr>
          <a:xfrm>
            <a:off x="1280160" y="4297680"/>
            <a:ext cx="9692640" cy="685800"/>
          </a:xfrm>
          <a:prstGeom prst="rect">
            <a:avLst/>
          </a:prstGeom>
          <a:noFill/>
          <a:ln/>
        </p:spPr>
        <p:txBody>
          <a:bodyPr wrap="square" rtlCol="0" anchor="ctr"/>
          <a:lstStyle/>
          <a:p>
            <a:pPr indent="0" marL="0">
              <a:lnSpc>
                <a:spcPts val="1700"/>
              </a:lnSpc>
              <a:buNone/>
            </a:pPr>
            <a:r>
              <a:rPr lang="en-US" sz="1400" dirty="0">
                <a:solidFill>
                  <a:srgbClr val="FFFFFF"/>
                </a:solidFill>
                <a:latin typeface="Calibri" pitchFamily="34" charset="0"/>
                <a:ea typeface="Calibri" pitchFamily="34" charset="-122"/>
                <a:cs typeface="Calibri" pitchFamily="34" charset="-120"/>
              </a:rPr>
              <a:t>Correction is layered: shoot-time discipline, geometric transforms, and lens calibration each address a different part of the problem.</a:t>
            </a:r>
            <a:endParaRPr lang="en-US" sz="1400" dirty="0"/>
          </a:p>
        </p:txBody>
      </p:sp>
      <p:sp>
        <p:nvSpPr>
          <p:cNvPr id="16" name="Shape 10"/>
          <p:cNvSpPr/>
          <p:nvPr/>
        </p:nvSpPr>
        <p:spPr>
          <a:xfrm>
            <a:off x="640080" y="5577840"/>
            <a:ext cx="1280160" cy="0"/>
          </a:xfrm>
          <a:prstGeom prst="line">
            <a:avLst/>
          </a:prstGeom>
          <a:noFill/>
          <a:ln w="31750">
            <a:solidFill>
              <a:srgbClr val="F4A259"/>
            </a:solidFill>
            <a:prstDash val="solid"/>
          </a:ln>
        </p:spPr>
      </p:sp>
      <p:sp>
        <p:nvSpPr>
          <p:cNvPr id="17" name="Text 11"/>
          <p:cNvSpPr/>
          <p:nvPr/>
        </p:nvSpPr>
        <p:spPr>
          <a:xfrm>
            <a:off x="640080" y="5760720"/>
            <a:ext cx="5486400" cy="548640"/>
          </a:xfrm>
          <a:prstGeom prst="rect">
            <a:avLst/>
          </a:prstGeom>
          <a:noFill/>
          <a:ln/>
        </p:spPr>
        <p:txBody>
          <a:bodyPr wrap="square" rtlCol="0" anchor="ctr"/>
          <a:lstStyle/>
          <a:p>
            <a:pPr indent="0" marL="0">
              <a:buNone/>
            </a:pPr>
            <a:r>
              <a:rPr lang="en-US" sz="2000" b="1" dirty="0">
                <a:solidFill>
                  <a:srgbClr val="F4A259"/>
                </a:solidFill>
                <a:latin typeface="Cambria" pitchFamily="34" charset="0"/>
                <a:ea typeface="Cambria" pitchFamily="34" charset="-122"/>
                <a:cs typeface="Cambria" pitchFamily="34" charset="-120"/>
              </a:rPr>
              <a:t>Thank you</a:t>
            </a:r>
            <a:endParaRPr lang="en-US" sz="2000" dirty="0"/>
          </a:p>
        </p:txBody>
      </p:sp>
      <p:sp>
        <p:nvSpPr>
          <p:cNvPr id="18" name="Text 12"/>
          <p:cNvSpPr/>
          <p:nvPr/>
        </p:nvSpPr>
        <p:spPr>
          <a:xfrm>
            <a:off x="457200" y="6510528"/>
            <a:ext cx="7315200" cy="274320"/>
          </a:xfrm>
          <a:prstGeom prst="rect">
            <a:avLst/>
          </a:prstGeom>
          <a:noFill/>
          <a:ln/>
        </p:spPr>
        <p:txBody>
          <a:bodyPr wrap="square" rtlCol="0" anchor="ctr"/>
          <a:lstStyle/>
          <a:p>
            <a:pPr algn="l" indent="0" marL="0">
              <a:buNone/>
            </a:pPr>
            <a:r>
              <a:rPr lang="en-US" sz="900" dirty="0">
                <a:solidFill>
                  <a:srgbClr val="B3AEDC"/>
                </a:solidFill>
                <a:latin typeface="Calibri" pitchFamily="34" charset="0"/>
                <a:ea typeface="Calibri" pitchFamily="34" charset="-122"/>
                <a:cs typeface="Calibri" pitchFamily="34" charset="-120"/>
              </a:rPr>
              <a:t>Perspective Distortion in Real-World Images</a:t>
            </a:r>
            <a:endParaRPr lang="en-US" sz="900" dirty="0"/>
          </a:p>
        </p:txBody>
      </p:sp>
      <p:sp>
        <p:nvSpPr>
          <p:cNvPr id="19" name="Text 13"/>
          <p:cNvSpPr/>
          <p:nvPr/>
        </p:nvSpPr>
        <p:spPr>
          <a:xfrm>
            <a:off x="11338560" y="6510528"/>
            <a:ext cx="457200" cy="274320"/>
          </a:xfrm>
          <a:prstGeom prst="rect">
            <a:avLst/>
          </a:prstGeom>
          <a:noFill/>
          <a:ln/>
        </p:spPr>
        <p:txBody>
          <a:bodyPr wrap="square" rtlCol="0" anchor="ctr"/>
          <a:lstStyle/>
          <a:p>
            <a:pPr algn="r" indent="0" marL="0">
              <a:buNone/>
            </a:pPr>
            <a:r>
              <a:rPr lang="en-US" sz="900" dirty="0">
                <a:solidFill>
                  <a:srgbClr val="B3AEDC"/>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2026-07-16T04:25:33Z</dcterms:created>
  <dcterms:modified xsi:type="dcterms:W3CDTF">2026-07-16T04:25:33Z</dcterms:modified>
</cp:coreProperties>
</file>